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72" r:id="rId3"/>
    <p:sldId id="269" r:id="rId4"/>
    <p:sldId id="274" r:id="rId6"/>
    <p:sldId id="267" r:id="rId7"/>
    <p:sldId id="268" r:id="rId8"/>
    <p:sldId id="266" r:id="rId9"/>
    <p:sldId id="279" r:id="rId10"/>
    <p:sldId id="281" r:id="rId15"/>
    <p:sldId id="282" r:id="rId16"/>
    <p:sldId id="283" r:id="rId17"/>
    <p:sldId id="284" r:id="rId18"/>
    <p:sldId id="280" r:id="rId1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63" userDrawn="1">
          <p15:clr>
            <a:srgbClr val="A4A3A4"/>
          </p15:clr>
        </p15:guide>
        <p15:guide id="2" pos="28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E9F1"/>
    <a:srgbClr val="FFFFCC"/>
    <a:srgbClr val="FFFFFF"/>
    <a:srgbClr val="DCF0FA"/>
    <a:srgbClr val="FF9999"/>
    <a:srgbClr val="FFCC99"/>
    <a:srgbClr val="FFCCCC"/>
    <a:srgbClr val="CCECFF"/>
    <a:srgbClr val="CCCCFF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71" autoAdjust="0"/>
    <p:restoredTop sz="94660"/>
  </p:normalViewPr>
  <p:slideViewPr>
    <p:cSldViewPr showGuides="1">
      <p:cViewPr varScale="1">
        <p:scale>
          <a:sx n="127" d="100"/>
          <a:sy n="127" d="100"/>
        </p:scale>
        <p:origin x="966" y="120"/>
      </p:cViewPr>
      <p:guideLst>
        <p:guide orient="horz" pos="1563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BBAA81-237B-44BB-AF30-64C19C0C1774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27242-C1B0-4509-A0B0-367918C063F6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78E1A-89DF-41C6-9287-7C9F9D30BF7B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3D41C-8771-4EE1-AF83-C92187D5CC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78E1A-89DF-41C6-9287-7C9F9D30BF7B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3D41C-8771-4EE1-AF83-C92187D5CC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78E1A-89DF-41C6-9287-7C9F9D30BF7B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3D41C-8771-4EE1-AF83-C92187D5CC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78E1A-89DF-41C6-9287-7C9F9D30BF7B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3D41C-8771-4EE1-AF83-C92187D5CC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78E1A-89DF-41C6-9287-7C9F9D30BF7B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3D41C-8771-4EE1-AF83-C92187D5CC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78E1A-89DF-41C6-9287-7C9F9D30BF7B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3D41C-8771-4EE1-AF83-C92187D5CC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78E1A-89DF-41C6-9287-7C9F9D30BF7B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3D41C-8771-4EE1-AF83-C92187D5CC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78E1A-89DF-41C6-9287-7C9F9D30BF7B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3D41C-8771-4EE1-AF83-C92187D5CC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78E1A-89DF-41C6-9287-7C9F9D30BF7B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3D41C-8771-4EE1-AF83-C92187D5CC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78E1A-89DF-41C6-9287-7C9F9D30BF7B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3D41C-8771-4EE1-AF83-C92187D5CC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78E1A-89DF-41C6-9287-7C9F9D30BF7B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3D41C-8771-4EE1-AF83-C92187D5CC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B78E1A-89DF-41C6-9287-7C9F9D30BF7B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3D41C-8771-4EE1-AF83-C92187D5CCE2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1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7.xml.rels><?xml version='1.0' encoding='UTF-8' standalone='yes'?>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8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1789707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The following slide will be distributed for preparation before </a:t>
            </a:r>
            <a:br>
              <a:rPr lang="en-US" dirty="0" smtClean="0"/>
            </a:br>
            <a:r>
              <a:rPr lang="en-US" dirty="0" smtClean="0"/>
              <a:t>the pre-</a:t>
            </a:r>
            <a:r>
              <a:rPr lang="en-US" dirty="0" err="1" smtClean="0"/>
              <a:t>Mol</a:t>
            </a:r>
            <a:r>
              <a:rPr lang="en-US" dirty="0"/>
              <a:t>-</a:t>
            </a:r>
            <a:r>
              <a:rPr lang="en-US" dirty="0" smtClean="0"/>
              <a:t>MDT meeting</a:t>
            </a:r>
            <a:endParaRPr lang="en-US" dirty="0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>
          <a:xfrm>
            <a:off x="1547664" y="2499741"/>
            <a:ext cx="6624736" cy="20948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N</a:t>
            </a:r>
            <a:r>
              <a:rPr lang="en-US" sz="2000" dirty="0" smtClean="0"/>
              <a:t>o clinical data such as </a:t>
            </a:r>
            <a:r>
              <a:rPr lang="en-US" sz="2000" dirty="0">
                <a:sym typeface="+mn-ea"/>
              </a:rPr>
              <a:t>sex, age, year of diagnosis, clinical diagnosis or material block number in the following slide</a:t>
            </a:r>
            <a:r>
              <a:rPr lang="en-US" sz="2000" dirty="0" smtClean="0">
                <a:sym typeface="+mn-ea"/>
              </a:rPr>
              <a:t>.</a:t>
            </a:r>
            <a:endParaRPr lang="en-US" sz="2000" dirty="0"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3"/>
          <p:cNvSpPr/>
          <p:nvPr/>
        </p:nvSpPr>
        <p:spPr>
          <a:xfrm>
            <a:off x="1645564" y="48920"/>
            <a:ext cx="4968552" cy="576064"/>
          </a:xfrm>
          <a:prstGeom prst="rect">
            <a:avLst/>
          </a:prstGeom>
          <a:solidFill>
            <a:srgbClr val="0070C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/>
          <p:cNvSpPr/>
          <p:nvPr/>
        </p:nvSpPr>
        <p:spPr>
          <a:xfrm>
            <a:off x="8233900" y="90678"/>
            <a:ext cx="122413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/>
                </a:solidFill>
              </a:rPr>
              <a:t>MTB</a:t>
            </a:r>
            <a:endParaRPr lang="en-US" sz="1600" dirty="0" smtClean="0">
              <a:solidFill>
                <a:schemeClr val="bg1"/>
              </a:solidFill>
            </a:endParaRPr>
          </a:p>
          <a:p>
            <a:pPr algn="ctr"/>
            <a:r>
              <a:rPr lang="en-US" sz="1000" dirty="0" smtClean="0">
                <a:solidFill>
                  <a:schemeClr val="bg1"/>
                </a:solidFill>
              </a:rPr>
              <a:t>Report 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8267241" y="90678"/>
            <a:ext cx="122413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/>
                </a:solidFill>
              </a:rPr>
              <a:t>MTB</a:t>
            </a:r>
            <a:endParaRPr lang="en-US" sz="1600" dirty="0" smtClean="0">
              <a:solidFill>
                <a:schemeClr val="bg1"/>
              </a:solidFill>
            </a:endParaRPr>
          </a:p>
          <a:p>
            <a:pPr algn="ctr"/>
            <a:r>
              <a:rPr lang="en-US" sz="1000" dirty="0" smtClean="0">
                <a:solidFill>
                  <a:schemeClr val="bg1"/>
                </a:solidFill>
              </a:rPr>
              <a:t>Report 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78" name="Rectangle 45"/>
          <p:cNvSpPr/>
          <p:nvPr/>
        </p:nvSpPr>
        <p:spPr>
          <a:xfrm>
            <a:off x="1684706" y="711221"/>
            <a:ext cx="224454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 smtClean="0"/>
              <a:t>SUMMARY OF KEY FINDINGS </a:t>
            </a:r>
            <a:endParaRPr lang="en-US" sz="1100" b="1" dirty="0"/>
          </a:p>
        </p:txBody>
      </p:sp>
      <p:graphicFrame>
        <p:nvGraphicFramePr>
          <p:cNvPr id="79" name="Table 4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691680" y="987573"/>
          <a:ext cx="4851641" cy="320040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371118"/>
                <a:gridCol w="1261802"/>
                <a:gridCol w="324000"/>
                <a:gridCol w="816460"/>
                <a:gridCol w="742236"/>
                <a:gridCol w="519566"/>
                <a:gridCol w="816459"/>
              </a:tblGrid>
              <a:tr h="31203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b-NO" sz="700" b="1" dirty="0" smtClean="0"/>
                        <a:t>SNVs/</a:t>
                      </a:r>
                      <a:endParaRPr lang="nb-NO" sz="700" b="1" dirty="0" smtClean="0"/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b-NO" sz="700" b="1" dirty="0" smtClean="0"/>
                        <a:t>indels</a:t>
                      </a:r>
                      <a:endParaRPr lang="en-US" sz="700" b="1" dirty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i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Total nr</a:t>
                      </a:r>
                      <a:r>
                        <a:rPr lang="en-US" sz="700" i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of SNVs/indels</a:t>
                      </a:r>
                      <a:endParaRPr lang="en-US" sz="700" i="1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 protein coding sequence</a:t>
                      </a:r>
                      <a:endParaRPr lang="en-US" sz="700" b="1" i="0" baseline="0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+mn-lt"/>
                        <a:ea typeface="+mn-ea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1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alter protein coding sequence</a:t>
                      </a:r>
                      <a:endParaRPr lang="en-US" sz="600" dirty="0" smtClean="0">
                        <a:solidFill>
                          <a:schemeClr val="tx1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dirty="0" smtClean="0">
                        <a:solidFill>
                          <a:schemeClr val="tx1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dirty="0" smtClean="0">
                        <a:solidFill>
                          <a:schemeClr val="tx1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1" dirty="0" smtClean="0">
                        <a:solidFill>
                          <a:schemeClr val="tx1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 smtClean="0"/>
                        <a:t>Copy number variants</a:t>
                      </a:r>
                      <a:endParaRPr lang="en-US" sz="700" b="1" dirty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latin typeface="+mn-lt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 smtClean="0">
                          <a:latin typeface="+mn-lt"/>
                          <a:ea typeface="Times New Roman" panose="02020503050405090304"/>
                        </a:rPr>
                        <a:t>Gene</a:t>
                      </a:r>
                      <a:r>
                        <a:rPr lang="en-US" sz="700" b="1" baseline="0" dirty="0" smtClean="0">
                          <a:latin typeface="+mn-lt"/>
                          <a:ea typeface="Times New Roman" panose="02020503050405090304"/>
                        </a:rPr>
                        <a:t> fusions</a:t>
                      </a:r>
                      <a:endParaRPr lang="en-US" sz="700" b="1" baseline="0" dirty="0" smtClean="0">
                        <a:latin typeface="+mn-lt"/>
                        <a:ea typeface="Times New Roman" panose="02020503050405090304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baseline="0" dirty="0" smtClean="0">
                          <a:latin typeface="+mn-lt"/>
                          <a:ea typeface="Times New Roman" panose="02020503050405090304"/>
                        </a:rPr>
                        <a:t> </a:t>
                      </a:r>
                      <a:r>
                        <a:rPr lang="en-US" sz="7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Times New Roman" panose="02020503050405090304"/>
                        </a:rPr>
                        <a:t>RNA</a:t>
                      </a:r>
                      <a:endParaRPr lang="en-US" sz="7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latin typeface="+mn-lt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0" name="Table 49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691680" y="1462405"/>
          <a:ext cx="4845200" cy="365760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563084"/>
                <a:gridCol w="2942958"/>
                <a:gridCol w="520358"/>
                <a:gridCol w="818800"/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b-NO" sz="1000" b="0" dirty="0" smtClean="0"/>
                        <a:t>TMB</a:t>
                      </a:r>
                      <a:endParaRPr lang="en-US" sz="1000" b="0" dirty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600" dirty="0" smtClean="0">
                        <a:latin typeface="Times New Roman" panose="02020503050405090304"/>
                        <a:ea typeface="Times New Roman" panose="02020503050405090304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600" dirty="0" smtClean="0">
                        <a:latin typeface="Times New Roman" panose="02020503050405090304"/>
                        <a:ea typeface="Times New Roman" panose="02020503050405090304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600" dirty="0" smtClean="0">
                        <a:latin typeface="Times New Roman" panose="02020503050405090304"/>
                        <a:ea typeface="Times New Roman" panose="02020503050405090304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600" dirty="0" smtClean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nb-NO" sz="1000" b="0" dirty="0" smtClean="0">
                        <a:latin typeface="+mn-lt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nb-NO" sz="800" b="0" dirty="0" smtClean="0">
                          <a:latin typeface="+mn-lt"/>
                          <a:ea typeface="+mn-ea"/>
                        </a:rPr>
                        <a:t>status</a:t>
                      </a:r>
                      <a:endParaRPr lang="en-US" sz="800" b="0" dirty="0" smtClean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83" name="Straight Connector 85"/>
          <p:cNvCxnSpPr/>
          <p:nvPr/>
        </p:nvCxnSpPr>
        <p:spPr>
          <a:xfrm>
            <a:off x="1763688" y="1853532"/>
            <a:ext cx="46805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50"/>
          <p:cNvSpPr/>
          <p:nvPr/>
        </p:nvSpPr>
        <p:spPr>
          <a:xfrm>
            <a:off x="2483768" y="1544201"/>
            <a:ext cx="2520280" cy="72008"/>
          </a:xfrm>
          <a:prstGeom prst="rect">
            <a:avLst/>
          </a:prstGeom>
          <a:gradFill flip="none" rotWithShape="1">
            <a:gsLst>
              <a:gs pos="0">
                <a:srgbClr val="0070C0"/>
              </a:gs>
              <a:gs pos="7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TextBox 54"/>
          <p:cNvSpPr txBox="1"/>
          <p:nvPr/>
        </p:nvSpPr>
        <p:spPr>
          <a:xfrm>
            <a:off x="2457568" y="1573456"/>
            <a:ext cx="34825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i="1" dirty="0" smtClean="0"/>
              <a:t>Low</a:t>
            </a:r>
            <a:endParaRPr lang="en-US" sz="600" i="1" dirty="0"/>
          </a:p>
        </p:txBody>
      </p:sp>
      <p:sp>
        <p:nvSpPr>
          <p:cNvPr id="91" name="TextBox 55"/>
          <p:cNvSpPr txBox="1"/>
          <p:nvPr/>
        </p:nvSpPr>
        <p:spPr>
          <a:xfrm>
            <a:off x="2755081" y="1575266"/>
            <a:ext cx="64807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i="1" dirty="0" smtClean="0"/>
              <a:t>Intermediate</a:t>
            </a:r>
            <a:endParaRPr lang="en-US" sz="600" i="1" dirty="0"/>
          </a:p>
        </p:txBody>
      </p:sp>
      <p:sp>
        <p:nvSpPr>
          <p:cNvPr id="92" name="TextBox 56"/>
          <p:cNvSpPr txBox="1"/>
          <p:nvPr/>
        </p:nvSpPr>
        <p:spPr>
          <a:xfrm>
            <a:off x="3491880" y="1573972"/>
            <a:ext cx="64807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i="1" dirty="0" smtClean="0"/>
              <a:t>High</a:t>
            </a:r>
            <a:endParaRPr lang="en-US" sz="600" i="1" dirty="0"/>
          </a:p>
        </p:txBody>
      </p:sp>
      <p:sp>
        <p:nvSpPr>
          <p:cNvPr id="116" name="TextBox 60"/>
          <p:cNvSpPr txBox="1"/>
          <p:nvPr/>
        </p:nvSpPr>
        <p:spPr>
          <a:xfrm>
            <a:off x="2669510" y="1605037"/>
            <a:ext cx="2338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i="1" dirty="0" smtClean="0"/>
              <a:t>5</a:t>
            </a:r>
            <a:endParaRPr lang="en-US" sz="600" b="1" i="1" dirty="0"/>
          </a:p>
        </p:txBody>
      </p:sp>
      <p:sp>
        <p:nvSpPr>
          <p:cNvPr id="122" name="TextBox 61"/>
          <p:cNvSpPr txBox="1"/>
          <p:nvPr/>
        </p:nvSpPr>
        <p:spPr>
          <a:xfrm>
            <a:off x="3207296" y="1612835"/>
            <a:ext cx="28458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i="1" dirty="0" smtClean="0"/>
              <a:t>20</a:t>
            </a:r>
            <a:endParaRPr lang="en-US" sz="600" b="1" i="1" dirty="0"/>
          </a:p>
        </p:txBody>
      </p:sp>
      <p:sp>
        <p:nvSpPr>
          <p:cNvPr id="131" name="Rectangle 80"/>
          <p:cNvSpPr/>
          <p:nvPr/>
        </p:nvSpPr>
        <p:spPr>
          <a:xfrm>
            <a:off x="3975800" y="1623394"/>
            <a:ext cx="1188146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00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Potentially overestimated TMB*</a:t>
            </a:r>
            <a:endParaRPr lang="en-US" sz="600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2" name="TextBox 81"/>
          <p:cNvSpPr txBox="1"/>
          <p:nvPr/>
        </p:nvSpPr>
        <p:spPr>
          <a:xfrm>
            <a:off x="3901951" y="1571012"/>
            <a:ext cx="1440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rgbClr val="FFC000"/>
                </a:solidFill>
              </a:rPr>
              <a:t>o</a:t>
            </a:r>
            <a:endParaRPr lang="en-US" sz="1100" dirty="0">
              <a:solidFill>
                <a:srgbClr val="FFC000"/>
              </a:solidFill>
            </a:endParaRPr>
          </a:p>
        </p:txBody>
      </p:sp>
      <p:sp>
        <p:nvSpPr>
          <p:cNvPr id="103" name="TextBox 54"/>
          <p:cNvSpPr txBox="1"/>
          <p:nvPr/>
        </p:nvSpPr>
        <p:spPr>
          <a:xfrm>
            <a:off x="2197995" y="1473248"/>
            <a:ext cx="348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 err="1" smtClean="0"/>
              <a:t>Mut</a:t>
            </a:r>
            <a:r>
              <a:rPr lang="en-US" sz="600" dirty="0" smtClean="0"/>
              <a:t>/Mb</a:t>
            </a:r>
            <a:endParaRPr lang="en-US" sz="600" dirty="0"/>
          </a:p>
        </p:txBody>
      </p:sp>
      <p:sp>
        <p:nvSpPr>
          <p:cNvPr id="4" name="Rectangle 39"/>
          <p:cNvSpPr/>
          <p:nvPr/>
        </p:nvSpPr>
        <p:spPr>
          <a:xfrm>
            <a:off x="8233920" y="90720"/>
            <a:ext cx="1223640" cy="486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</a:rPr>
              <a:t>MTB</a:t>
            </a:r>
            <a:endParaRPr lang="en-US" sz="1600" b="0" strike="noStrike" spc="-1"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FFFFFF"/>
                </a:solidFill>
                <a:latin typeface="Calibri"/>
              </a:rPr>
              <a:t>Report </a:t>
            </a:r>
            <a:endParaRPr lang="en-US" sz="1000" b="0" strike="noStrike" spc="-1">
              <a:latin typeface="Arial" panose="020B0604020202090204"/>
            </a:endParaRPr>
          </a:p>
        </p:txBody>
      </p:sp>
      <p:sp>
        <p:nvSpPr>
          <p:cNvPr id="8" name="Rectangle 63"/>
          <p:cNvSpPr/>
          <p:nvPr/>
        </p:nvSpPr>
        <p:spPr>
          <a:xfrm>
            <a:off x="7295040" y="68400"/>
            <a:ext cx="1223640" cy="333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</a:rPr>
              <a:t>DNA</a:t>
            </a:r>
            <a:r>
              <a:rPr lang="en-US" sz="1400" b="0" strike="noStrike" spc="-1">
                <a:solidFill>
                  <a:srgbClr val="FFFFFF"/>
                </a:solidFill>
                <a:latin typeface="Calibri"/>
              </a:rPr>
              <a:t> </a:t>
            </a:r>
            <a:endParaRPr lang="en-US" sz="1400" b="0" strike="noStrike" spc="-1">
              <a:latin typeface="Arial" panose="020B0604020202090204"/>
            </a:endParaRPr>
          </a:p>
        </p:txBody>
      </p:sp>
      <p:sp>
        <p:nvSpPr>
          <p:cNvPr id="12" name="Rectangle 69"/>
          <p:cNvSpPr/>
          <p:nvPr/>
        </p:nvSpPr>
        <p:spPr>
          <a:xfrm>
            <a:off x="8267400" y="90720"/>
            <a:ext cx="1223640" cy="49098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 smtClean="0">
                <a:solidFill>
                  <a:srgbClr val="FFFFFF"/>
                </a:solidFill>
                <a:latin typeface="Calibri"/>
              </a:rPr>
              <a:t>MDT</a:t>
            </a:r>
            <a:endParaRPr lang="en-US" sz="1600" b="0" strike="noStrike" spc="-1" dirty="0"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 dirty="0">
                <a:solidFill>
                  <a:srgbClr val="FFFFFF"/>
                </a:solidFill>
                <a:latin typeface="Calibri"/>
              </a:rPr>
              <a:t>Report </a:t>
            </a:r>
            <a:endParaRPr lang="en-US" sz="1000" b="0" strike="noStrike" spc="-1" dirty="0">
              <a:latin typeface="Arial" panose="020B0604020202090204"/>
            </a:endParaRPr>
          </a:p>
        </p:txBody>
      </p:sp>
      <p:sp>
        <p:nvSpPr>
          <p:cNvPr id="95" name="Rectangle 73"/>
          <p:cNvSpPr/>
          <p:nvPr/>
        </p:nvSpPr>
        <p:spPr>
          <a:xfrm>
            <a:off x="1080" y="74880"/>
            <a:ext cx="503640" cy="675654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FFFFFF"/>
                </a:solidFill>
                <a:latin typeface="Calibri"/>
              </a:rPr>
              <a:t>xx</a:t>
            </a:r>
            <a:r>
              <a:rPr lang="en-US" sz="10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endParaRPr lang="en-US" sz="1000" b="0" strike="noStrike" spc="-1" dirty="0"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r>
              <a:rPr lang="en-US" sz="1200" b="0" strike="noStrike" spc="-1" dirty="0">
                <a:solidFill>
                  <a:srgbClr val="FFFFFF"/>
                </a:solidFill>
                <a:latin typeface="Calibri"/>
              </a:rPr>
              <a:t>XXX</a:t>
            </a:r>
            <a:endParaRPr lang="en-US" sz="1200" b="0" strike="noStrike" spc="-1" dirty="0"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r>
              <a:rPr lang="en-US" sz="800" b="0" strike="noStrike" spc="-1" dirty="0" smtClean="0">
                <a:solidFill>
                  <a:srgbClr val="FFFFFF"/>
                </a:solidFill>
                <a:latin typeface="Calibri"/>
              </a:rPr>
              <a:t>2022</a:t>
            </a:r>
            <a:endParaRPr lang="en-US" sz="800" b="0" strike="noStrike" spc="-1" dirty="0">
              <a:latin typeface="Arial" panose="020B0604020202090204"/>
            </a:endParaRPr>
          </a:p>
        </p:txBody>
      </p:sp>
      <p:cxnSp>
        <p:nvCxnSpPr>
          <p:cNvPr id="54" name="Straight Connector 53"/>
          <p:cNvCxnSpPr/>
          <p:nvPr/>
        </p:nvCxnSpPr>
        <p:spPr>
          <a:xfrm>
            <a:off x="2771800" y="1544201"/>
            <a:ext cx="0" cy="7200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 Box 2"/>
          <p:cNvSpPr/>
          <p:nvPr/>
        </p:nvSpPr>
        <p:spPr>
          <a:xfrm>
            <a:off x="1660319" y="1923678"/>
            <a:ext cx="4883001" cy="316864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800" u="sng" spc="-1" dirty="0" smtClean="0"/>
              <a:t>Description of </a:t>
            </a:r>
            <a:r>
              <a:rPr lang="en-US" sz="800" u="sng" spc="-1" dirty="0" err="1" smtClean="0">
                <a:latin typeface="Calibri"/>
              </a:rPr>
              <a:t>InPreD</a:t>
            </a:r>
            <a:r>
              <a:rPr lang="en-US" sz="800" u="sng" spc="-1" dirty="0" smtClean="0">
                <a:latin typeface="Calibri"/>
              </a:rPr>
              <a:t> calculations: </a:t>
            </a:r>
            <a:endParaRPr lang="en-US" sz="800" u="sng" strike="noStrike" spc="-1" dirty="0" smtClean="0">
              <a:latin typeface="Calibri"/>
            </a:endParaRPr>
          </a:p>
          <a:p>
            <a:r>
              <a:rPr lang="en-US" sz="800" spc="-1" dirty="0"/>
              <a:t>Tumor Mutation </a:t>
            </a:r>
            <a:r>
              <a:rPr lang="en-US" sz="800" spc="-1" dirty="0" smtClean="0"/>
              <a:t>Burden, </a:t>
            </a:r>
            <a:r>
              <a:rPr lang="en-US" sz="800" b="0" strike="noStrike" spc="-1" dirty="0" smtClean="0"/>
              <a:t>TMB (</a:t>
            </a:r>
            <a:r>
              <a:rPr lang="en-US" sz="800" b="0" strike="noStrike" spc="-1" dirty="0"/>
              <a:t>DRUP equivalent): VAF</a:t>
            </a:r>
            <a:r>
              <a:rPr lang="en-US" sz="800" b="0" strike="noStrike" spc="-1" dirty="0" smtClean="0"/>
              <a:t>&gt;=0.05</a:t>
            </a:r>
            <a:r>
              <a:rPr lang="en-US" sz="800" b="0" strike="noStrike" spc="-1" dirty="0"/>
              <a:t>, depth</a:t>
            </a:r>
            <a:r>
              <a:rPr lang="en-US" sz="800" b="0" strike="noStrike" spc="-1" dirty="0" smtClean="0"/>
              <a:t>&gt;=50</a:t>
            </a:r>
            <a:r>
              <a:rPr lang="en-US" sz="800" b="0" strike="noStrike" spc="-1" dirty="0"/>
              <a:t>, </a:t>
            </a:r>
            <a:r>
              <a:rPr lang="en-US" sz="800" b="0" strike="noStrike" spc="-1" dirty="0" smtClean="0"/>
              <a:t>excludes </a:t>
            </a:r>
            <a:r>
              <a:rPr lang="en-US" sz="800" b="0" strike="noStrike" spc="-1" dirty="0"/>
              <a:t>synonymous. </a:t>
            </a:r>
            <a:endParaRPr lang="en-US" sz="800" b="0" strike="noStrike" spc="-1" dirty="0" smtClean="0"/>
          </a:p>
          <a:p>
            <a:r>
              <a:rPr lang="en-US" sz="800" spc="-1" dirty="0" smtClean="0"/>
              <a:t>*</a:t>
            </a:r>
            <a:r>
              <a:rPr lang="en-US" sz="800" spc="-1" dirty="0"/>
              <a:t>If tumor only, the somatic and germline origin of some of the assessed variants is uncertain which may cause the TMB value to be overestimated. </a:t>
            </a:r>
            <a:endParaRPr lang="en-US" sz="800" spc="-1" dirty="0" smtClean="0"/>
          </a:p>
          <a:p>
            <a:r>
              <a:rPr lang="en-US" sz="800" b="0" strike="noStrike" spc="-1" dirty="0" smtClean="0"/>
              <a:t>Observed TMB: </a:t>
            </a:r>
            <a:r>
              <a:rPr lang="en-US" sz="800" b="0" strike="noStrike" spc="-1" dirty="0"/>
              <a:t>Eligible variant / Effective Panel </a:t>
            </a:r>
            <a:r>
              <a:rPr lang="en-US" sz="800" spc="-1" dirty="0"/>
              <a:t>Size </a:t>
            </a:r>
            <a:r>
              <a:rPr lang="en-US" sz="800" spc="-1" dirty="0" smtClean="0"/>
              <a:t>(Millions of bases): </a:t>
            </a:r>
            <a:endParaRPr lang="en-US" sz="800" spc="-1" dirty="0" smtClean="0"/>
          </a:p>
          <a:p>
            <a:r>
              <a:rPr lang="en-US" sz="800" spc="-1" dirty="0"/>
              <a:t>TMB is not available (</a:t>
            </a:r>
            <a:r>
              <a:rPr lang="en-US" sz="800" spc="-1" dirty="0" smtClean="0"/>
              <a:t>blank) </a:t>
            </a:r>
            <a:r>
              <a:rPr lang="en-US" sz="800" spc="-1" dirty="0"/>
              <a:t>when Effective Panel Size &lt;  1.14 (90% of the target bases have read depth at least 50). Manual inspection is needed. </a:t>
            </a:r>
            <a:endParaRPr lang="en-US" sz="800" b="0" strike="noStrike" spc="-1" dirty="0" smtClean="0"/>
          </a:p>
          <a:p>
            <a:r>
              <a:rPr lang="en-US" sz="800" spc="-1" dirty="0"/>
              <a:t>Indicative threshold for Microsatellite (MS) status: Unstable if proportion of unstable MS sites ≥ 20%, Likely unstable when between 20% and &gt;=10%, otherwise stable. Unreliable when </a:t>
            </a:r>
            <a:r>
              <a:rPr lang="en-US" sz="800" spc="-1" dirty="0" smtClean="0"/>
              <a:t>number </a:t>
            </a:r>
            <a:r>
              <a:rPr lang="en-US" sz="800" spc="-1" dirty="0"/>
              <a:t>of usable sites is less than </a:t>
            </a:r>
            <a:r>
              <a:rPr lang="en-US" sz="800" spc="-1" dirty="0" smtClean="0"/>
              <a:t>40.</a:t>
            </a:r>
            <a:endParaRPr lang="en-US" sz="800" spc="-1" dirty="0" smtClean="0"/>
          </a:p>
          <a:p>
            <a:endParaRPr lang="en-US" sz="800" b="0" strike="noStrike" spc="-1" dirty="0" smtClean="0"/>
          </a:p>
          <a:p>
            <a:pPr>
              <a:lnSpc>
                <a:spcPct val="100000"/>
              </a:lnSpc>
            </a:pPr>
            <a:r>
              <a:rPr lang="en-US" sz="800" u="sng" spc="-1" dirty="0" smtClean="0"/>
              <a:t>Reports from the </a:t>
            </a:r>
            <a:r>
              <a:rPr lang="en-US" sz="800" b="0" u="sng" strike="noStrike" spc="-1" dirty="0" err="1" smtClean="0"/>
              <a:t>LocalApp</a:t>
            </a:r>
            <a:r>
              <a:rPr lang="en-US" sz="800" b="0" u="sng" strike="noStrike" spc="-1" dirty="0" smtClean="0"/>
              <a:t> from Illumina:</a:t>
            </a:r>
            <a:endParaRPr lang="en-US" sz="800" b="0" strike="noStrike" spc="-1" dirty="0" smtClean="0"/>
          </a:p>
          <a:p>
            <a:r>
              <a:rPr lang="en-US" sz="800" b="0" strike="noStrike" spc="-1" dirty="0" smtClean="0"/>
              <a:t>TMB </a:t>
            </a:r>
            <a:r>
              <a:rPr lang="en-US" sz="800" spc="-1" dirty="0" smtClean="0"/>
              <a:t>includes </a:t>
            </a:r>
            <a:r>
              <a:rPr lang="en-US" sz="800" spc="-1" dirty="0"/>
              <a:t>synonymous </a:t>
            </a:r>
            <a:r>
              <a:rPr lang="en-US" sz="800" b="0" strike="noStrike" spc="-1" dirty="0" smtClean="0"/>
              <a:t>(eligible variants): </a:t>
            </a:r>
            <a:endParaRPr lang="en-US" sz="800" b="0" strike="noStrike" spc="-1" dirty="0" smtClean="0"/>
          </a:p>
          <a:p>
            <a:r>
              <a:rPr lang="en-US" sz="800" spc="-1" dirty="0"/>
              <a:t>P</a:t>
            </a:r>
            <a:r>
              <a:rPr lang="en-US" sz="800" b="0" strike="noStrike" spc="-1" dirty="0" smtClean="0"/>
              <a:t>ercentage of unstable MS sites </a:t>
            </a:r>
            <a:r>
              <a:rPr lang="en-US" sz="800" b="0" strike="noStrike" spc="-1" dirty="0"/>
              <a:t>(</a:t>
            </a:r>
            <a:r>
              <a:rPr lang="en-US" sz="800" spc="-1" dirty="0"/>
              <a:t>unstable / </a:t>
            </a:r>
            <a:r>
              <a:rPr lang="en-US" sz="800" spc="-1" dirty="0" smtClean="0"/>
              <a:t>usable MS </a:t>
            </a:r>
            <a:r>
              <a:rPr lang="en-US" sz="800" b="0" strike="noStrike" spc="-1" dirty="0" smtClean="0"/>
              <a:t>site count):</a:t>
            </a:r>
            <a:r>
              <a:rPr lang="en-US" sz="800" spc="-1" dirty="0" smtClean="0"/>
              <a:t> </a:t>
            </a:r>
            <a:endParaRPr lang="en-US" sz="800" b="0" strike="noStrike" spc="-1" dirty="0" smtClean="0"/>
          </a:p>
          <a:p>
            <a:r>
              <a:rPr lang="en-US" sz="800" spc="-1" dirty="0" smtClean="0"/>
              <a:t>F</a:t>
            </a:r>
            <a:r>
              <a:rPr lang="en-US" sz="800" b="0" strike="noStrike" spc="-1" dirty="0" smtClean="0"/>
              <a:t>usion filter criteria: at least 3 unique supporting reads, one of which must be a split read (a single read covering the fusion breakpoint). </a:t>
            </a:r>
            <a:r>
              <a:rPr lang="en-US" sz="800" spc="-1" dirty="0" smtClean="0"/>
              <a:t>Splice variant with involved exons in parenthesis.</a:t>
            </a:r>
            <a:endParaRPr lang="en-US" sz="800" b="0" strike="noStrike" spc="-1" dirty="0" smtClean="0"/>
          </a:p>
          <a:p>
            <a:endParaRPr lang="en-US" sz="800" spc="-1" dirty="0"/>
          </a:p>
          <a:p>
            <a:r>
              <a:rPr lang="en-US" sz="800" u="sng" spc="-1" dirty="0" smtClean="0"/>
              <a:t>Initial report: </a:t>
            </a:r>
            <a:endParaRPr lang="en-US" sz="800" u="sng" spc="-1" dirty="0"/>
          </a:p>
          <a:p>
            <a:r>
              <a:rPr lang="en-US" sz="800" spc="-1" dirty="0"/>
              <a:t>Orange header refers to this report being in the initial reporting phase. In the final report for </a:t>
            </a:r>
            <a:r>
              <a:rPr lang="en-US" sz="800" spc="-1" dirty="0" err="1"/>
              <a:t>Mol</a:t>
            </a:r>
            <a:r>
              <a:rPr lang="en-US" sz="800" spc="-1" dirty="0"/>
              <a:t>-MDT the header will be blue. </a:t>
            </a:r>
            <a:endParaRPr lang="en-US" sz="800" spc="-1" dirty="0"/>
          </a:p>
          <a:p>
            <a:r>
              <a:rPr lang="en-US" sz="800" spc="-1" dirty="0">
                <a:sym typeface="+mn-ea"/>
              </a:rPr>
              <a:t>Variants of uncertain significance (VUS) refer to variants with unknown/ unclear / inconclusive / contradictory functional consequence in cancer. Level of evidence for experimental treatment follows ESCAT guidelines and will be defined by the respective study/trial</a:t>
            </a:r>
            <a:r>
              <a:rPr lang="en-US" sz="800" spc="-1" dirty="0" smtClean="0">
                <a:sym typeface="+mn-ea"/>
              </a:rPr>
              <a:t>.</a:t>
            </a:r>
            <a:endParaRPr lang="en-US" sz="800" spc="-1" dirty="0" smtClean="0">
              <a:sym typeface="+mn-ea"/>
            </a:endParaRPr>
          </a:p>
          <a:p>
            <a:r>
              <a:rPr lang="en-US" sz="800" b="0" strike="noStrike" spc="-1" smtClean="0">
                <a:solidFill>
                  <a:schemeClr val="tx1"/>
                </a:solidFill>
                <a:sym typeface="+mn-ea"/>
              </a:rPr>
              <a:t>The tumor </a:t>
            </a:r>
            <a:r>
              <a:rPr lang="en-US" sz="800" b="0" strike="noStrike" spc="-1" dirty="0" smtClean="0">
                <a:solidFill>
                  <a:schemeClr val="tx1"/>
                </a:solidFill>
                <a:sym typeface="+mn-ea"/>
              </a:rPr>
              <a:t>content is estimated by a pathologist </a:t>
            </a:r>
            <a:r>
              <a:rPr lang="en-US" sz="800" spc="-1" dirty="0" smtClean="0">
                <a:solidFill>
                  <a:schemeClr val="tx1"/>
                </a:solidFill>
                <a:sym typeface="+mn-ea"/>
              </a:rPr>
              <a:t>unless</a:t>
            </a:r>
            <a:r>
              <a:rPr lang="en-US" sz="800" b="0" strike="noStrike" spc="-1" dirty="0" smtClean="0">
                <a:solidFill>
                  <a:schemeClr val="tx1"/>
                </a:solidFill>
                <a:sym typeface="+mn-ea"/>
              </a:rPr>
              <a:t> otherwise specified. This tumor content </a:t>
            </a:r>
            <a:r>
              <a:rPr lang="en-US" sz="800" spc="-1" dirty="0" smtClean="0">
                <a:solidFill>
                  <a:schemeClr val="tx1"/>
                </a:solidFill>
                <a:sym typeface="+mn-ea"/>
              </a:rPr>
              <a:t>is used as input in the post </a:t>
            </a:r>
            <a:r>
              <a:rPr lang="en-US" sz="800" spc="-1" dirty="0">
                <a:solidFill>
                  <a:schemeClr val="tx1"/>
                </a:solidFill>
                <a:sym typeface="+mn-ea"/>
              </a:rPr>
              <a:t>processing </a:t>
            </a:r>
            <a:r>
              <a:rPr lang="en-US" sz="800" spc="-1" dirty="0" smtClean="0">
                <a:solidFill>
                  <a:schemeClr val="tx1"/>
                </a:solidFill>
                <a:sym typeface="+mn-ea"/>
              </a:rPr>
              <a:t>pipeline (TSOPPI). </a:t>
            </a:r>
            <a:endParaRPr lang="en-US" sz="800" b="0" strike="noStrike" spc="-1" dirty="0" smtClean="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62" name="Straight Connector 53"/>
          <p:cNvCxnSpPr/>
          <p:nvPr/>
        </p:nvCxnSpPr>
        <p:spPr>
          <a:xfrm>
            <a:off x="3347864" y="1544201"/>
            <a:ext cx="0" cy="7200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54"/>
          <p:cNvSpPr/>
          <p:nvPr/>
        </p:nvSpPr>
        <p:spPr>
          <a:xfrm>
            <a:off x="6678138" y="54000"/>
            <a:ext cx="2412000" cy="5756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8" name="Rectangle 67"/>
          <p:cNvSpPr/>
          <p:nvPr/>
        </p:nvSpPr>
        <p:spPr>
          <a:xfrm>
            <a:off x="8239389" y="54000"/>
            <a:ext cx="378360" cy="43416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635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9" name="Rectangle 71"/>
          <p:cNvSpPr/>
          <p:nvPr/>
        </p:nvSpPr>
        <p:spPr>
          <a:xfrm>
            <a:off x="53862" y="54000"/>
            <a:ext cx="1548000" cy="5756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7" name="Rectangle 72"/>
          <p:cNvSpPr/>
          <p:nvPr/>
        </p:nvSpPr>
        <p:spPr>
          <a:xfrm>
            <a:off x="54000" y="54000"/>
            <a:ext cx="431640" cy="576000"/>
          </a:xfrm>
          <a:prstGeom prst="rect">
            <a:avLst/>
          </a:prstGeom>
          <a:solidFill>
            <a:srgbClr val="0070C0"/>
          </a:solidFill>
          <a:ln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9" name="Rectangle 53"/>
          <p:cNvSpPr/>
          <p:nvPr/>
        </p:nvSpPr>
        <p:spPr>
          <a:xfrm>
            <a:off x="1660804" y="54000"/>
            <a:ext cx="4968552" cy="57606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2" name="Rectangle 62"/>
          <p:cNvSpPr/>
          <p:nvPr/>
        </p:nvSpPr>
        <p:spPr>
          <a:xfrm>
            <a:off x="6580509" y="115200"/>
            <a:ext cx="1223640" cy="395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 dirty="0">
                <a:solidFill>
                  <a:srgbClr val="FFFFFF"/>
                </a:solidFill>
                <a:latin typeface="Calibri"/>
              </a:rPr>
              <a:t>TSO500</a:t>
            </a:r>
            <a:r>
              <a:rPr lang="en-US" sz="14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endParaRPr lang="en-US" sz="1400" b="0" strike="noStrike" spc="-1" dirty="0">
              <a:latin typeface="Arial" panose="020B0604020202090204"/>
            </a:endParaRPr>
          </a:p>
        </p:txBody>
      </p:sp>
      <p:sp>
        <p:nvSpPr>
          <p:cNvPr id="113" name="Rectangle 63"/>
          <p:cNvSpPr/>
          <p:nvPr/>
        </p:nvSpPr>
        <p:spPr>
          <a:xfrm>
            <a:off x="7302558" y="46800"/>
            <a:ext cx="1223640" cy="333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>
                <a:solidFill>
                  <a:srgbClr val="FFFFFF"/>
                </a:solidFill>
                <a:latin typeface="Calibri"/>
              </a:rPr>
              <a:t>DNA</a:t>
            </a:r>
            <a:r>
              <a:rPr lang="en-US" sz="14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endParaRPr lang="en-US" sz="1400" b="0" strike="noStrike" spc="-1" dirty="0">
              <a:latin typeface="Arial" panose="020B0604020202090204"/>
            </a:endParaRPr>
          </a:p>
        </p:txBody>
      </p:sp>
      <p:sp>
        <p:nvSpPr>
          <p:cNvPr id="114" name="Rectangle 64"/>
          <p:cNvSpPr/>
          <p:nvPr/>
        </p:nvSpPr>
        <p:spPr>
          <a:xfrm>
            <a:off x="7302558" y="255600"/>
            <a:ext cx="1223640" cy="333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</a:rPr>
              <a:t>RNA</a:t>
            </a:r>
            <a:r>
              <a:rPr lang="en-US" sz="1400" b="0" strike="noStrike" spc="-1">
                <a:solidFill>
                  <a:srgbClr val="FFFFFF"/>
                </a:solidFill>
                <a:latin typeface="Calibri"/>
              </a:rPr>
              <a:t> </a:t>
            </a:r>
            <a:endParaRPr lang="en-US" sz="1400" b="0" strike="noStrike" spc="-1">
              <a:latin typeface="Arial" panose="020B0604020202090204"/>
            </a:endParaRPr>
          </a:p>
        </p:txBody>
      </p:sp>
      <p:sp>
        <p:nvSpPr>
          <p:cNvPr id="117" name="Straight Connector 65"/>
          <p:cNvSpPr/>
          <p:nvPr/>
        </p:nvSpPr>
        <p:spPr>
          <a:xfrm>
            <a:off x="7662198" y="324000"/>
            <a:ext cx="504000" cy="0"/>
          </a:xfrm>
          <a:prstGeom prst="line">
            <a:avLst/>
          </a:prstGeom>
          <a:ln>
            <a:solidFill>
              <a:srgbClr val="4A7EBB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0" name="Rectangle 74"/>
          <p:cNvSpPr/>
          <p:nvPr/>
        </p:nvSpPr>
        <p:spPr>
          <a:xfrm>
            <a:off x="558720" y="29700"/>
            <a:ext cx="935640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 dirty="0" smtClean="0">
                <a:solidFill>
                  <a:srgbClr val="FFFFFF"/>
                </a:solidFill>
                <a:latin typeface="Calibri"/>
              </a:rPr>
              <a:t>MDT</a:t>
            </a:r>
            <a:endParaRPr lang="en-US" sz="1400" b="0" strike="noStrike" spc="-1" dirty="0">
              <a:latin typeface="Arial" panose="020B0604020202090204"/>
            </a:endParaRPr>
          </a:p>
        </p:txBody>
      </p:sp>
      <p:sp>
        <p:nvSpPr>
          <p:cNvPr id="55" name="Rectangle 75"/>
          <p:cNvSpPr/>
          <p:nvPr/>
        </p:nvSpPr>
        <p:spPr>
          <a:xfrm>
            <a:off x="54042" y="676380"/>
            <a:ext cx="1547640" cy="423505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7" name="Rectangle 40"/>
          <p:cNvSpPr/>
          <p:nvPr/>
        </p:nvSpPr>
        <p:spPr>
          <a:xfrm>
            <a:off x="144145" y="771525"/>
            <a:ext cx="1367790" cy="841375"/>
          </a:xfrm>
          <a:prstGeom prst="rect">
            <a:avLst/>
          </a:prstGeom>
          <a:gradFill rotWithShape="0">
            <a:gsLst>
              <a:gs pos="0">
                <a:srgbClr val="D9D9D9"/>
              </a:gs>
              <a:gs pos="100000">
                <a:srgbClr val="A6A6A6"/>
              </a:gs>
            </a:gsLst>
            <a:lin ang="5400000"/>
          </a:gradFill>
          <a:ln>
            <a:solidFill>
              <a:srgbClr val="FFFFFF">
                <a:lumMod val="8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8" name="TextBox 41"/>
          <p:cNvSpPr/>
          <p:nvPr/>
        </p:nvSpPr>
        <p:spPr>
          <a:xfrm>
            <a:off x="75735" y="771623"/>
            <a:ext cx="679680" cy="24257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595959"/>
                </a:solidFill>
                <a:latin typeface="Calibri"/>
              </a:rPr>
              <a:t>Patient</a:t>
            </a:r>
            <a:endParaRPr lang="en-US" sz="1000" b="0" strike="noStrike" spc="-1">
              <a:latin typeface="Arial" panose="020B0604020202090204"/>
            </a:endParaRPr>
          </a:p>
        </p:txBody>
      </p:sp>
      <p:grpSp>
        <p:nvGrpSpPr>
          <p:cNvPr id="60" name="Gruppe 41"/>
          <p:cNvGrpSpPr/>
          <p:nvPr/>
        </p:nvGrpSpPr>
        <p:grpSpPr>
          <a:xfrm>
            <a:off x="196462" y="1299222"/>
            <a:ext cx="146716" cy="214722"/>
            <a:chOff x="171000" y="979920"/>
            <a:chExt cx="182160" cy="263520"/>
          </a:xfrm>
        </p:grpSpPr>
        <p:sp>
          <p:nvSpPr>
            <p:cNvPr id="61" name="Ellipse 42"/>
            <p:cNvSpPr/>
            <p:nvPr/>
          </p:nvSpPr>
          <p:spPr>
            <a:xfrm>
              <a:off x="209520" y="1195920"/>
              <a:ext cx="106200" cy="47520"/>
            </a:xfrm>
            <a:prstGeom prst="ellipse">
              <a:avLst/>
            </a:prstGeom>
            <a:gradFill rotWithShape="0">
              <a:gsLst>
                <a:gs pos="0">
                  <a:srgbClr val="8EB4E3"/>
                </a:gs>
                <a:gs pos="100000">
                  <a:srgbClr val="0070C0"/>
                </a:gs>
              </a:gsLst>
              <a:lin ang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3" name="Tåre 43"/>
            <p:cNvSpPr/>
            <p:nvPr/>
          </p:nvSpPr>
          <p:spPr>
            <a:xfrm rot="8045400">
              <a:off x="189000" y="1018080"/>
              <a:ext cx="135360" cy="136800"/>
            </a:xfrm>
            <a:prstGeom prst="teardrop">
              <a:avLst>
                <a:gd name="adj" fmla="val 143023"/>
              </a:avLst>
            </a:prstGeom>
            <a:gradFill rotWithShape="0">
              <a:gsLst>
                <a:gs pos="0">
                  <a:srgbClr val="17375E"/>
                </a:gs>
                <a:gs pos="100000">
                  <a:srgbClr val="C6D9F1"/>
                </a:gs>
              </a:gsLst>
              <a:path path="rect">
                <a:fillToRect l="100000" t="100000"/>
              </a:path>
            </a:gradFill>
            <a:ln w="6350">
              <a:solidFill>
                <a:srgbClr val="FFFFFF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4" name="Ellipse 44"/>
            <p:cNvSpPr/>
            <p:nvPr/>
          </p:nvSpPr>
          <p:spPr>
            <a:xfrm>
              <a:off x="227880" y="1067040"/>
              <a:ext cx="52920" cy="54360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66" name="Bilde 6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763"/>
          <a:stretch>
            <a:fillRect/>
          </a:stretch>
        </p:blipFill>
        <p:spPr>
          <a:xfrm>
            <a:off x="179070" y="4227830"/>
            <a:ext cx="576580" cy="542925"/>
          </a:xfrm>
          <a:prstGeom prst="rect">
            <a:avLst/>
          </a:prstGeom>
        </p:spPr>
      </p:pic>
      <p:sp>
        <p:nvSpPr>
          <p:cNvPr id="67" name="TekstSylinder 66"/>
          <p:cNvSpPr txBox="1"/>
          <p:nvPr/>
        </p:nvSpPr>
        <p:spPr>
          <a:xfrm>
            <a:off x="647065" y="4493895"/>
            <a:ext cx="91821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solidFill>
                  <a:srgbClr val="005495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Infrastructure for </a:t>
            </a:r>
            <a:endParaRPr lang="en-US" sz="600" dirty="0">
              <a:solidFill>
                <a:srgbClr val="005495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ctr"/>
            <a:r>
              <a:rPr lang="en-US" sz="600" dirty="0">
                <a:solidFill>
                  <a:srgbClr val="005495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Precision Diagnostics</a:t>
            </a:r>
            <a:endParaRPr lang="nb-NO" sz="600" dirty="0">
              <a:solidFill>
                <a:srgbClr val="005495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68" name="Bilde 6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17" r="-3477"/>
          <a:stretch>
            <a:fillRect/>
          </a:stretch>
        </p:blipFill>
        <p:spPr>
          <a:xfrm>
            <a:off x="737235" y="4139565"/>
            <a:ext cx="791845" cy="542925"/>
          </a:xfrm>
          <a:prstGeom prst="rect">
            <a:avLst/>
          </a:prstGeom>
        </p:spPr>
      </p:pic>
      <p:sp>
        <p:nvSpPr>
          <p:cNvPr id="69" name="TextBox 41"/>
          <p:cNvSpPr/>
          <p:nvPr/>
        </p:nvSpPr>
        <p:spPr>
          <a:xfrm>
            <a:off x="56050" y="1044673"/>
            <a:ext cx="679680" cy="21145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00" spc="-1" dirty="0">
                <a:solidFill>
                  <a:srgbClr val="000000"/>
                </a:solidFill>
                <a:latin typeface="Calibri"/>
                <a:sym typeface="+mn-ea"/>
              </a:rPr>
              <a:t>Y of D: </a:t>
            </a:r>
            <a:endParaRPr lang="en-US" sz="800" b="0" strike="noStrike" spc="-1">
              <a:latin typeface="Arial" panose="020B0604020202090204"/>
            </a:endParaRPr>
          </a:p>
        </p:txBody>
      </p:sp>
      <p:sp>
        <p:nvSpPr>
          <p:cNvPr id="71" name="Rectangle 47"/>
          <p:cNvSpPr/>
          <p:nvPr/>
        </p:nvSpPr>
        <p:spPr>
          <a:xfrm>
            <a:off x="144042" y="1696398"/>
            <a:ext cx="1367640" cy="575640"/>
          </a:xfrm>
          <a:prstGeom prst="rect">
            <a:avLst/>
          </a:prstGeom>
          <a:gradFill rotWithShape="0">
            <a:gsLst>
              <a:gs pos="0">
                <a:srgbClr val="D9D9D9"/>
              </a:gs>
              <a:gs pos="100000">
                <a:srgbClr val="A6A6A6"/>
              </a:gs>
            </a:gsLst>
            <a:lin ang="5400000"/>
          </a:gradFill>
          <a:ln>
            <a:solidFill>
              <a:srgbClr val="FFFFFF">
                <a:lumMod val="8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2" name="TextBox 48"/>
          <p:cNvSpPr/>
          <p:nvPr/>
        </p:nvSpPr>
        <p:spPr>
          <a:xfrm>
            <a:off x="75565" y="1785793"/>
            <a:ext cx="651510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595959"/>
                </a:solidFill>
                <a:latin typeface="Calibri"/>
              </a:rPr>
              <a:t>Bio-material</a:t>
            </a:r>
            <a:endParaRPr lang="en-US" sz="1000" b="0" strike="noStrike" spc="-1">
              <a:latin typeface="Arial" panose="020B0604020202090204"/>
            </a:endParaRPr>
          </a:p>
        </p:txBody>
      </p:sp>
      <p:sp>
        <p:nvSpPr>
          <p:cNvPr id="73" name="Rectangle 49"/>
          <p:cNvSpPr/>
          <p:nvPr/>
        </p:nvSpPr>
        <p:spPr>
          <a:xfrm>
            <a:off x="144677" y="2374973"/>
            <a:ext cx="1367640" cy="395640"/>
          </a:xfrm>
          <a:prstGeom prst="rect">
            <a:avLst/>
          </a:prstGeom>
          <a:gradFill rotWithShape="0">
            <a:gsLst>
              <a:gs pos="0">
                <a:srgbClr val="D9D9D9"/>
              </a:gs>
              <a:gs pos="100000">
                <a:srgbClr val="A6A6A6"/>
              </a:gs>
            </a:gsLst>
            <a:lin ang="5400000"/>
          </a:gradFill>
          <a:ln>
            <a:solidFill>
              <a:srgbClr val="FFFFFF">
                <a:lumMod val="8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4" name="TextBox 50"/>
          <p:cNvSpPr/>
          <p:nvPr/>
        </p:nvSpPr>
        <p:spPr>
          <a:xfrm>
            <a:off x="76870" y="2375568"/>
            <a:ext cx="679680" cy="394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 dirty="0">
                <a:solidFill>
                  <a:srgbClr val="595959"/>
                </a:solidFill>
                <a:latin typeface="Calibri"/>
              </a:rPr>
              <a:t>Tumor content</a:t>
            </a:r>
            <a:endParaRPr lang="en-US" sz="1000" b="0" strike="noStrike" spc="-1" dirty="0">
              <a:latin typeface="Arial" panose="020B0604020202090204"/>
            </a:endParaRPr>
          </a:p>
        </p:txBody>
      </p:sp>
      <p:sp>
        <p:nvSpPr>
          <p:cNvPr id="53" name="TekstSylinder 52"/>
          <p:cNvSpPr txBox="1"/>
          <p:nvPr/>
        </p:nvSpPr>
        <p:spPr>
          <a:xfrm>
            <a:off x="7109460" y="4911725"/>
            <a:ext cx="203454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#</a:t>
            </a:r>
            <a:r>
              <a:rPr lang="en-US" sz="800" dirty="0" smtClean="0"/>
              <a:t> Variant </a:t>
            </a:r>
            <a:r>
              <a:rPr lang="en-US" sz="800" dirty="0"/>
              <a:t>of u</a:t>
            </a:r>
            <a:r>
              <a:rPr lang="nb-NO" altLang="en-US" sz="800" dirty="0"/>
              <a:t>nclear</a:t>
            </a:r>
            <a:r>
              <a:rPr lang="en-US" sz="800" dirty="0"/>
              <a:t> significance (VUS)</a:t>
            </a:r>
            <a:endParaRPr lang="en-US" sz="800" dirty="0"/>
          </a:p>
        </p:txBody>
      </p:sp>
      <p:sp>
        <p:nvSpPr>
          <p:cNvPr id="75" name="Rectangle 69"/>
          <p:cNvSpPr/>
          <p:nvPr/>
        </p:nvSpPr>
        <p:spPr>
          <a:xfrm>
            <a:off x="8226138" y="60425"/>
            <a:ext cx="1223640" cy="49098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 smtClean="0">
                <a:solidFill>
                  <a:schemeClr val="bg1"/>
                </a:solidFill>
                <a:latin typeface="Calibri"/>
              </a:rPr>
              <a:t>MDT</a:t>
            </a:r>
            <a:endParaRPr lang="en-US" sz="1600" b="0" strike="noStrike" spc="-1" dirty="0">
              <a:solidFill>
                <a:schemeClr val="bg1"/>
              </a:solidFill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 dirty="0">
                <a:solidFill>
                  <a:schemeClr val="bg1"/>
                </a:solidFill>
                <a:latin typeface="Calibri"/>
              </a:rPr>
              <a:t>Report </a:t>
            </a:r>
            <a:endParaRPr lang="en-US" sz="1000" b="0" strike="noStrike" spc="-1" dirty="0">
              <a:solidFill>
                <a:schemeClr val="bg1"/>
              </a:solidFill>
              <a:latin typeface="Arial" panose="020B0604020202090204"/>
            </a:endParaRPr>
          </a:p>
        </p:txBody>
      </p:sp>
      <p:sp>
        <p:nvSpPr>
          <p:cNvPr id="93" name="Rectangle 94"/>
          <p:cNvSpPr/>
          <p:nvPr/>
        </p:nvSpPr>
        <p:spPr>
          <a:xfrm>
            <a:off x="19645" y="4880472"/>
            <a:ext cx="1743938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00" dirty="0" smtClean="0">
                <a:solidFill>
                  <a:schemeClr val="tx1"/>
                </a:solidFill>
              </a:rPr>
              <a:t>VAF=variant allele fraction , </a:t>
            </a:r>
            <a:endParaRPr lang="en-US" sz="600" dirty="0" smtClean="0">
              <a:solidFill>
                <a:schemeClr val="tx1"/>
              </a:solidFill>
            </a:endParaRPr>
          </a:p>
          <a:p>
            <a:r>
              <a:rPr lang="en-US" sz="600" dirty="0" smtClean="0">
                <a:solidFill>
                  <a:schemeClr val="tx1"/>
                </a:solidFill>
              </a:rPr>
              <a:t>CN=copy number </a:t>
            </a:r>
            <a:r>
              <a:rPr lang="en-US" sz="600" dirty="0" smtClean="0">
                <a:solidFill>
                  <a:schemeClr val="tx1"/>
                </a:solidFill>
                <a:sym typeface="+mn-ea"/>
              </a:rPr>
              <a:t>(assumes  ploidy 2).</a:t>
            </a:r>
            <a:r>
              <a:rPr lang="en-US" sz="600" dirty="0" smtClean="0">
                <a:solidFill>
                  <a:srgbClr val="FF0000"/>
                </a:solidFill>
                <a:sym typeface="+mn-ea"/>
              </a:rPr>
              <a:t> </a:t>
            </a:r>
            <a:r>
              <a:rPr lang="en-US" sz="600" dirty="0" smtClean="0">
                <a:solidFill>
                  <a:schemeClr val="tx1"/>
                </a:solidFill>
              </a:rPr>
              <a:t> </a:t>
            </a:r>
            <a:endParaRPr lang="en-US" sz="600" dirty="0" smtClean="0">
              <a:solidFill>
                <a:schemeClr val="tx1"/>
              </a:solidFill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54864" y="54864"/>
            <a:ext cx="42976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AFAFA"/>
                </a:solidFill>
              </a:defRPr>
            </a:pPr>
            <a:r>
              <a:t>XX</a:t>
            </a:r>
            <a:br/>
            <a:r>
              <a:t>XXX</a:t>
            </a:r>
            <a:br/>
            <a:r>
              <a:t>2026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429000" y="100584"/>
            <a:ext cx="1216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AFAFA"/>
                </a:solidFill>
              </a:defRPr>
            </a:pPr>
            <a:r>
              <a:t>IPD2225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20456" y="18288"/>
            <a:ext cx="411480" cy="50292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 algn="ctr">
              <a:defRPr sz="900">
                <a:solidFill>
                  <a:srgbClr val="FAFAFA"/>
                </a:solidFill>
              </a:defRPr>
            </a:pPr>
            <a:r>
              <a:t>18</a:t>
            </a:r>
            <a:br/>
            <a:r>
              <a:t>MAY</a:t>
            </a:r>
            <a:br/>
            <a:r>
              <a:t>2026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611112" y="475488"/>
            <a:ext cx="2313432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04040"/>
                </a:solidFill>
              </a:defRPr>
            </a:pPr>
            <a:r>
              <a:t>Version string: 2.2.0.12/0.3.2:22-06-07/1.0.0/1.0.0/hg19/TR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57200" y="1344168"/>
            <a:ext cx="7863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AFAFA"/>
                </a:solidFill>
              </a:defRPr>
            </a:pPr>
            <a:r>
              <a:t>OUS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49224" y="1682496"/>
            <a:ext cx="78638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Primary tumor</a:t>
            </a:r>
            <a:br/>
            <a:r>
              <a:t> naive</a:t>
            </a:r>
            <a:br/>
            <a:r>
              <a:t>Archived FFPE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40664" y="2423160"/>
            <a:ext cx="576072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~50%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276088" y="173736"/>
            <a:ext cx="786384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FAFAFA"/>
                </a:solidFill>
              </a:defRPr>
            </a:pPr>
            <a:r>
              <a:t>CNS/Brain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77240" y="1024128"/>
            <a:ext cx="438912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/>
            </a:pPr>
            <a:r>
              <a:t>-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57784" y="320040"/>
            <a:ext cx="932688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AFAFA"/>
                </a:solidFill>
              </a:defRPr>
            </a:pPr>
            <a:r>
              <a:t>OUS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30936" y="722376"/>
            <a:ext cx="79552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</a:p>
        </p:txBody>
      </p:sp>
      <p:sp>
        <p:nvSpPr>
          <p:cNvPr id="144" name="TextBox 143"/>
          <p:cNvSpPr txBox="1"/>
          <p:nvPr/>
        </p:nvSpPr>
        <p:spPr>
          <a:xfrm>
            <a:off x="667512" y="2057400"/>
            <a:ext cx="640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"/>
            </a:pPr>
          </a:p>
        </p:txBody>
      </p:sp>
      <p:sp>
        <p:nvSpPr>
          <p:cNvPr id="145" name="TextBox 144"/>
          <p:cNvSpPr txBox="1"/>
          <p:nvPr/>
        </p:nvSpPr>
        <p:spPr>
          <a:xfrm>
            <a:off x="1920240" y="100584"/>
            <a:ext cx="97840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FAFAFA"/>
                </a:solidFill>
              </a:defRPr>
            </a:pPr>
          </a:p>
        </p:txBody>
      </p:sp>
      <p:graphicFrame>
        <p:nvGraphicFramePr>
          <p:cNvPr id="146" name="Table 145"/>
          <p:cNvGraphicFramePr>
            <a:graphicFrameLocks noGrp="1"/>
          </p:cNvGraphicFramePr>
          <p:nvPr/>
        </p:nvGraphicFramePr>
        <p:xfrm>
          <a:off x="6611112" y="969264"/>
          <a:ext cx="2523744" cy="1490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0936"/>
                <a:gridCol w="630936"/>
                <a:gridCol w="630936"/>
                <a:gridCol w="630936"/>
              </a:tblGrid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Gene_symbol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Protein_change_short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Coding_status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AF_tumor_DNA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TP53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G245D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0.20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R445X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stop_gained,splice_region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0.18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T319X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frameshift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0.06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MSH2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N596del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inframe_deletion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0.56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LZTR1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W469X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stop_gained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0.61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HNF1A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P289fs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frameshift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0.05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S146X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frameshift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0.14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ARID1B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R1845C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0.02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V2115I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0.17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AXIN1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A441T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0.11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BCORL1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R1299Q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0.02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FAT1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S4566R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0.17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FAT1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V1577I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0.05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GNAS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G414R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0.05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PRDM1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A379T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0.17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G36R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0.05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LATS2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I993T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0.60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NOTCH1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R1663W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0.36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NOTCH3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A399T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missense,splice_region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0.21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DNMT3A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Q356X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stop_gained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0.04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SETD2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R70X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stop_gained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0.20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MEF2B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T274fs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frameshift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0.20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CD276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R111H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0.22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ERCC1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V126I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0.17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FGF8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T133M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0.05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NUP93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P656L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0.19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PRKDC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A1947T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0.20</a:t>
                      </a:r>
                    </a:p>
                  </a:txBody>
                  <a:tcPr/>
                </a:tc>
              </a:tr>
              <a:tr h="51412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GEN1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N154D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0.40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7" name="TextBox 146"/>
          <p:cNvSpPr txBox="1"/>
          <p:nvPr/>
        </p:nvSpPr>
        <p:spPr>
          <a:xfrm>
            <a:off x="6729984" y="749808"/>
            <a:ext cx="2331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/>
            </a:pPr>
            <a:r>
              <a:t>Variants that alter protein coding sequence 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266944" y="1463040"/>
            <a:ext cx="374904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MS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702400" y="1504800"/>
            <a:ext cx="813599" cy="23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/>
            </a:pPr>
            <a:r>
              <a:t>Stable</a:t>
            </a:r>
            <a:br/>
            <a:r>
              <a:t>5 unstable out of 121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346704" y="1161288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/>
            </a:pPr>
            <a:r>
              <a:t>28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346704" y="1042415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/>
            </a:pPr>
            <a:r>
              <a:t>34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346704" y="932688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/>
            </a:pPr>
            <a:r>
              <a:t>42</a:t>
            </a:r>
          </a:p>
        </p:txBody>
      </p:sp>
      <p:sp>
        <p:nvSpPr>
          <p:cNvPr id="153" name="Oval 152"/>
          <p:cNvSpPr/>
          <p:nvPr/>
        </p:nvSpPr>
        <p:spPr>
          <a:xfrm>
            <a:off x="2977200" y="1404000"/>
            <a:ext cx="208800" cy="208800"/>
          </a:xfrm>
          <a:prstGeom prst="ellipse">
            <a:avLst/>
          </a:prstGeom>
          <a:ln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2962800" y="1404000"/>
            <a:ext cx="2088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FAFAFA"/>
                </a:solidFill>
              </a:defRPr>
            </a:pPr>
            <a:r>
              <a:t>15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696712" y="969264"/>
            <a:ext cx="8869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/>
            </a:pPr>
            <a:r>
              <a:t>splicing: None reported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696712" y="1152144"/>
            <a:ext cx="8869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/>
            </a:pPr>
            <a:r>
              <a:t>fusion: None reported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700016" y="2404872"/>
            <a:ext cx="48463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/>
            </a:pPr>
            <a:r>
              <a:t>23/1.27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3611880" y="3383280"/>
            <a:ext cx="8046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/>
            </a:pPr>
            <a:r>
              <a:t>TMB = 14.9 (19)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480560" y="3511296"/>
            <a:ext cx="1042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MSI = 4.13 (5/121)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1789707"/>
          </a:xfrm>
        </p:spPr>
        <p:txBody>
          <a:bodyPr>
            <a:normAutofit/>
          </a:bodyPr>
          <a:lstStyle/>
          <a:p>
            <a:r>
              <a:rPr lang="en-US" dirty="0" smtClean="0"/>
              <a:t>The following slides are for </a:t>
            </a:r>
            <a:br>
              <a:rPr lang="en-US" dirty="0" smtClean="0"/>
            </a:br>
            <a:r>
              <a:rPr lang="en-US" dirty="0" smtClean="0"/>
              <a:t>the molecular tumor board</a:t>
            </a:r>
            <a:endParaRPr lang="en-US" dirty="0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>
          <a:xfrm>
            <a:off x="457200" y="2499741"/>
            <a:ext cx="8229600" cy="209488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dirty="0" smtClean="0"/>
              <a:t>Contains clinical information from the </a:t>
            </a:r>
            <a:r>
              <a:rPr lang="en-US" sz="2000" dirty="0">
                <a:solidFill>
                  <a:schemeClr val="tx1"/>
                </a:solidFill>
              </a:rPr>
              <a:t>file </a:t>
            </a:r>
            <a:r>
              <a:rPr lang="en-US" sz="2000" dirty="0" smtClean="0">
                <a:solidFill>
                  <a:schemeClr val="tx1"/>
                </a:solidFill>
              </a:rPr>
              <a:t>“</a:t>
            </a:r>
            <a:r>
              <a:rPr lang="en-US" sz="2000" dirty="0" err="1" smtClean="0">
                <a:solidFill>
                  <a:schemeClr val="tx1"/>
                </a:solidFill>
              </a:rPr>
              <a:t>InPreD_PRONTO_metadata</a:t>
            </a:r>
            <a:r>
              <a:rPr lang="en-US" sz="2000" dirty="0" smtClean="0">
                <a:solidFill>
                  <a:schemeClr val="tx1"/>
                </a:solidFill>
              </a:rPr>
              <a:t>”. </a:t>
            </a:r>
            <a:endParaRPr lang="en-US" sz="2000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3"/>
          <p:cNvSpPr/>
          <p:nvPr/>
        </p:nvSpPr>
        <p:spPr>
          <a:xfrm>
            <a:off x="1645564" y="48920"/>
            <a:ext cx="4968552" cy="576064"/>
          </a:xfrm>
          <a:prstGeom prst="rect">
            <a:avLst/>
          </a:prstGeom>
          <a:solidFill>
            <a:srgbClr val="0070C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39"/>
          <p:cNvSpPr/>
          <p:nvPr/>
        </p:nvSpPr>
        <p:spPr>
          <a:xfrm>
            <a:off x="8233920" y="90720"/>
            <a:ext cx="1223640" cy="486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</a:rPr>
              <a:t>MTB</a:t>
            </a:r>
            <a:endParaRPr lang="en-US" sz="1600" b="0" strike="noStrike" spc="-1"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FFFFFF"/>
                </a:solidFill>
                <a:latin typeface="Calibri"/>
              </a:rPr>
              <a:t>Report </a:t>
            </a:r>
            <a:endParaRPr lang="en-US" sz="1000" b="0" strike="noStrike" spc="-1">
              <a:latin typeface="Arial" panose="020B0604020202090204"/>
            </a:endParaRPr>
          </a:p>
        </p:txBody>
      </p:sp>
      <p:sp>
        <p:nvSpPr>
          <p:cNvPr id="49" name="Rectangle 69"/>
          <p:cNvSpPr/>
          <p:nvPr/>
        </p:nvSpPr>
        <p:spPr>
          <a:xfrm>
            <a:off x="8267400" y="90720"/>
            <a:ext cx="1223640" cy="49098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 smtClean="0">
                <a:solidFill>
                  <a:srgbClr val="FFFFFF"/>
                </a:solidFill>
                <a:latin typeface="Calibri"/>
              </a:rPr>
              <a:t>MDT</a:t>
            </a:r>
            <a:endParaRPr lang="en-US" sz="1600" b="0" strike="noStrike" spc="-1" dirty="0"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 dirty="0">
                <a:solidFill>
                  <a:srgbClr val="FFFFFF"/>
                </a:solidFill>
                <a:latin typeface="Calibri"/>
              </a:rPr>
              <a:t>Report </a:t>
            </a:r>
            <a:endParaRPr lang="en-US" sz="1000" b="0" strike="noStrike" spc="-1" dirty="0">
              <a:latin typeface="Arial" panose="020B0604020202090204"/>
            </a:endParaRPr>
          </a:p>
        </p:txBody>
      </p:sp>
      <p:sp>
        <p:nvSpPr>
          <p:cNvPr id="54" name="Rectangle 95"/>
          <p:cNvSpPr/>
          <p:nvPr/>
        </p:nvSpPr>
        <p:spPr>
          <a:xfrm>
            <a:off x="1691640" y="733320"/>
            <a:ext cx="6779160" cy="767987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 b="1" strike="noStrike" spc="-1" dirty="0">
                <a:solidFill>
                  <a:srgbClr val="000000"/>
                </a:solidFill>
                <a:latin typeface="Calibri"/>
              </a:rPr>
              <a:t>CLINICAL CASE:</a:t>
            </a:r>
            <a:endParaRPr lang="en-US" sz="1100" b="0" strike="noStrike" spc="-1" dirty="0">
              <a:latin typeface="Arial" panose="020B0604020202090204"/>
            </a:endParaRPr>
          </a:p>
          <a:p>
            <a:pPr>
              <a:lnSpc>
                <a:spcPct val="100000"/>
              </a:lnSpc>
            </a:pPr>
            <a:endParaRPr lang="en-US" sz="1100" b="0" strike="noStrike" spc="-1" dirty="0">
              <a:latin typeface="Arial" panose="020B0604020202090204"/>
            </a:endParaRPr>
          </a:p>
          <a:p>
            <a:pPr>
              <a:lnSpc>
                <a:spcPct val="100000"/>
              </a:lnSpc>
            </a:pPr>
            <a:endParaRPr lang="en-US" sz="1100" b="0" strike="noStrike" spc="-1" dirty="0">
              <a:latin typeface="Arial" panose="020B0604020202090204"/>
            </a:endParaRPr>
          </a:p>
          <a:p>
            <a:pPr>
              <a:lnSpc>
                <a:spcPct val="100000"/>
              </a:lnSpc>
            </a:pPr>
            <a:r>
              <a:rPr lang="en-US" sz="11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endParaRPr lang="en-US" sz="1100" b="0" strike="noStrike" spc="-1" dirty="0">
              <a:latin typeface="Arial" panose="020B0604020202090204"/>
            </a:endParaRPr>
          </a:p>
        </p:txBody>
      </p:sp>
      <p:sp>
        <p:nvSpPr>
          <p:cNvPr id="73" name="TextBox 60"/>
          <p:cNvSpPr/>
          <p:nvPr/>
        </p:nvSpPr>
        <p:spPr>
          <a:xfrm>
            <a:off x="254000" y="1980000"/>
            <a:ext cx="1678940" cy="49098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 dirty="0"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endParaRPr lang="nb-NO" sz="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" name="Rektangel 87"/>
          <p:cNvSpPr/>
          <p:nvPr/>
        </p:nvSpPr>
        <p:spPr>
          <a:xfrm>
            <a:off x="6621622" y="752436"/>
            <a:ext cx="104233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 b="1" spc="-1" dirty="0" smtClean="0">
                <a:solidFill>
                  <a:srgbClr val="000000"/>
                </a:solidFill>
              </a:rPr>
              <a:t>BIOMATERIAL:</a:t>
            </a:r>
            <a:endParaRPr lang="en-US" sz="1100" b="1" spc="-1" dirty="0" smtClean="0">
              <a:solidFill>
                <a:srgbClr val="000000"/>
              </a:solidFill>
            </a:endParaRPr>
          </a:p>
        </p:txBody>
      </p:sp>
      <p:sp>
        <p:nvSpPr>
          <p:cNvPr id="11" name="Rectangle 54"/>
          <p:cNvSpPr/>
          <p:nvPr/>
        </p:nvSpPr>
        <p:spPr>
          <a:xfrm>
            <a:off x="6678138" y="54000"/>
            <a:ext cx="2412000" cy="5756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" name="Rectangle 62"/>
          <p:cNvSpPr/>
          <p:nvPr/>
        </p:nvSpPr>
        <p:spPr>
          <a:xfrm>
            <a:off x="6580509" y="115200"/>
            <a:ext cx="1223640" cy="395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 dirty="0">
                <a:solidFill>
                  <a:srgbClr val="FFFFFF"/>
                </a:solidFill>
                <a:latin typeface="Calibri"/>
              </a:rPr>
              <a:t>TSO500</a:t>
            </a:r>
            <a:r>
              <a:rPr lang="en-US" sz="14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endParaRPr lang="en-US" sz="1400" b="0" strike="noStrike" spc="-1" dirty="0">
              <a:latin typeface="Arial" panose="020B0604020202090204"/>
            </a:endParaRPr>
          </a:p>
        </p:txBody>
      </p:sp>
      <p:sp>
        <p:nvSpPr>
          <p:cNvPr id="13" name="Rectangle 63"/>
          <p:cNvSpPr/>
          <p:nvPr/>
        </p:nvSpPr>
        <p:spPr>
          <a:xfrm>
            <a:off x="7302558" y="46800"/>
            <a:ext cx="1223640" cy="333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>
                <a:solidFill>
                  <a:srgbClr val="FFFFFF"/>
                </a:solidFill>
                <a:latin typeface="Calibri"/>
              </a:rPr>
              <a:t>DNA</a:t>
            </a:r>
            <a:r>
              <a:rPr lang="en-US" sz="14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endParaRPr lang="en-US" sz="1400" b="0" strike="noStrike" spc="-1" dirty="0">
              <a:latin typeface="Arial" panose="020B0604020202090204"/>
            </a:endParaRPr>
          </a:p>
        </p:txBody>
      </p:sp>
      <p:sp>
        <p:nvSpPr>
          <p:cNvPr id="14" name="Rectangle 64"/>
          <p:cNvSpPr/>
          <p:nvPr/>
        </p:nvSpPr>
        <p:spPr>
          <a:xfrm>
            <a:off x="7302558" y="255600"/>
            <a:ext cx="1223640" cy="333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</a:rPr>
              <a:t>RNA</a:t>
            </a:r>
            <a:r>
              <a:rPr lang="en-US" sz="1400" b="0" strike="noStrike" spc="-1">
                <a:solidFill>
                  <a:srgbClr val="FFFFFF"/>
                </a:solidFill>
                <a:latin typeface="Calibri"/>
              </a:rPr>
              <a:t> </a:t>
            </a:r>
            <a:endParaRPr lang="en-US" sz="1400" b="0" strike="noStrike" spc="-1">
              <a:latin typeface="Arial" panose="020B0604020202090204"/>
            </a:endParaRPr>
          </a:p>
        </p:txBody>
      </p:sp>
      <p:sp>
        <p:nvSpPr>
          <p:cNvPr id="15" name="Straight Connector 65"/>
          <p:cNvSpPr/>
          <p:nvPr/>
        </p:nvSpPr>
        <p:spPr>
          <a:xfrm>
            <a:off x="7662198" y="324000"/>
            <a:ext cx="504000" cy="0"/>
          </a:xfrm>
          <a:prstGeom prst="line">
            <a:avLst/>
          </a:prstGeom>
          <a:ln>
            <a:solidFill>
              <a:srgbClr val="4A7EBB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" name="Rectangle 67"/>
          <p:cNvSpPr/>
          <p:nvPr/>
        </p:nvSpPr>
        <p:spPr>
          <a:xfrm>
            <a:off x="8239389" y="54000"/>
            <a:ext cx="378360" cy="43416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635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" name="Rectangle 71"/>
          <p:cNvSpPr/>
          <p:nvPr/>
        </p:nvSpPr>
        <p:spPr>
          <a:xfrm>
            <a:off x="53862" y="54000"/>
            <a:ext cx="1548000" cy="5756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" name="Rectangle 72"/>
          <p:cNvSpPr/>
          <p:nvPr/>
        </p:nvSpPr>
        <p:spPr>
          <a:xfrm>
            <a:off x="54000" y="54000"/>
            <a:ext cx="431640" cy="576000"/>
          </a:xfrm>
          <a:prstGeom prst="rect">
            <a:avLst/>
          </a:prstGeom>
          <a:solidFill>
            <a:srgbClr val="0070C0"/>
          </a:solidFill>
          <a:ln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" name="Rectangle 74"/>
          <p:cNvSpPr/>
          <p:nvPr/>
        </p:nvSpPr>
        <p:spPr>
          <a:xfrm>
            <a:off x="558720" y="29700"/>
            <a:ext cx="935640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 dirty="0" smtClean="0">
                <a:solidFill>
                  <a:srgbClr val="FFFFFF"/>
                </a:solidFill>
                <a:latin typeface="Calibri"/>
              </a:rPr>
              <a:t>MDT</a:t>
            </a:r>
            <a:endParaRPr lang="en-US" sz="1400" b="0" strike="noStrike" spc="-1" dirty="0">
              <a:latin typeface="Arial" panose="020B0604020202090204"/>
            </a:endParaRPr>
          </a:p>
        </p:txBody>
      </p:sp>
      <p:sp>
        <p:nvSpPr>
          <p:cNvPr id="21" name="Rectangle 53"/>
          <p:cNvSpPr/>
          <p:nvPr/>
        </p:nvSpPr>
        <p:spPr>
          <a:xfrm>
            <a:off x="1655724" y="54000"/>
            <a:ext cx="4968552" cy="57606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ktangel 1"/>
          <p:cNvSpPr/>
          <p:nvPr/>
        </p:nvSpPr>
        <p:spPr>
          <a:xfrm>
            <a:off x="128774" y="4940622"/>
            <a:ext cx="649080" cy="196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nb-NO" sz="700" b="0" strike="noStrike" spc="-1" dirty="0" err="1">
                <a:solidFill>
                  <a:srgbClr val="000000"/>
                </a:solidFill>
                <a:latin typeface="Calibri"/>
              </a:rPr>
              <a:t>Inclusion</a:t>
            </a:r>
            <a:r>
              <a:rPr lang="nb-NO" sz="7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nb-NO" sz="700" b="0" strike="noStrike" spc="-1" dirty="0" err="1">
                <a:solidFill>
                  <a:srgbClr val="000000"/>
                </a:solidFill>
                <a:latin typeface="Calibri"/>
              </a:rPr>
              <a:t>site</a:t>
            </a:r>
            <a:endParaRPr lang="en-US" sz="700" b="0" strike="noStrike" spc="-1" dirty="0">
              <a:latin typeface="Arial" panose="020B0604020202090204"/>
            </a:endParaRPr>
          </a:p>
        </p:txBody>
      </p:sp>
      <p:grpSp>
        <p:nvGrpSpPr>
          <p:cNvPr id="86" name="Gruppe 41"/>
          <p:cNvGrpSpPr/>
          <p:nvPr/>
        </p:nvGrpSpPr>
        <p:grpSpPr>
          <a:xfrm>
            <a:off x="68535" y="4904277"/>
            <a:ext cx="149517" cy="222810"/>
            <a:chOff x="171000" y="979920"/>
            <a:chExt cx="182160" cy="263520"/>
          </a:xfrm>
        </p:grpSpPr>
        <p:sp>
          <p:nvSpPr>
            <p:cNvPr id="87" name="Ellipse 42"/>
            <p:cNvSpPr/>
            <p:nvPr/>
          </p:nvSpPr>
          <p:spPr>
            <a:xfrm>
              <a:off x="209520" y="1195920"/>
              <a:ext cx="106200" cy="47520"/>
            </a:xfrm>
            <a:prstGeom prst="ellipse">
              <a:avLst/>
            </a:prstGeom>
            <a:gradFill rotWithShape="0">
              <a:gsLst>
                <a:gs pos="0">
                  <a:srgbClr val="8EB4E3"/>
                </a:gs>
                <a:gs pos="100000">
                  <a:srgbClr val="0070C0"/>
                </a:gs>
              </a:gsLst>
              <a:lin ang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89" name="Tåre 43"/>
            <p:cNvSpPr/>
            <p:nvPr/>
          </p:nvSpPr>
          <p:spPr>
            <a:xfrm rot="8045400">
              <a:off x="189000" y="1018080"/>
              <a:ext cx="135360" cy="136800"/>
            </a:xfrm>
            <a:prstGeom prst="teardrop">
              <a:avLst>
                <a:gd name="adj" fmla="val 143023"/>
              </a:avLst>
            </a:prstGeom>
            <a:gradFill rotWithShape="0">
              <a:gsLst>
                <a:gs pos="0">
                  <a:srgbClr val="17375E"/>
                </a:gs>
                <a:gs pos="100000">
                  <a:srgbClr val="C6D9F1"/>
                </a:gs>
              </a:gsLst>
              <a:path path="rect">
                <a:fillToRect l="100000" t="100000"/>
              </a:path>
            </a:gradFill>
            <a:ln w="6350">
              <a:solidFill>
                <a:srgbClr val="FFFFFF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0" name="Ellipse 44"/>
            <p:cNvSpPr/>
            <p:nvPr/>
          </p:nvSpPr>
          <p:spPr>
            <a:xfrm>
              <a:off x="227880" y="1067040"/>
              <a:ext cx="52920" cy="54360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42" name="Rectangle 75"/>
          <p:cNvSpPr/>
          <p:nvPr/>
        </p:nvSpPr>
        <p:spPr>
          <a:xfrm>
            <a:off x="54042" y="676380"/>
            <a:ext cx="1547640" cy="423505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3" name="Rectangle 40"/>
          <p:cNvSpPr/>
          <p:nvPr/>
        </p:nvSpPr>
        <p:spPr>
          <a:xfrm>
            <a:off x="144145" y="771525"/>
            <a:ext cx="1367790" cy="841375"/>
          </a:xfrm>
          <a:prstGeom prst="rect">
            <a:avLst/>
          </a:prstGeom>
          <a:gradFill rotWithShape="0">
            <a:gsLst>
              <a:gs pos="0">
                <a:srgbClr val="D9D9D9"/>
              </a:gs>
              <a:gs pos="100000">
                <a:srgbClr val="A6A6A6"/>
              </a:gs>
            </a:gsLst>
            <a:lin ang="5400000"/>
          </a:gradFill>
          <a:ln>
            <a:solidFill>
              <a:srgbClr val="FFFFFF">
                <a:lumMod val="8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4" name="TextBox 41"/>
          <p:cNvSpPr/>
          <p:nvPr/>
        </p:nvSpPr>
        <p:spPr>
          <a:xfrm>
            <a:off x="75735" y="771623"/>
            <a:ext cx="679680" cy="24257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595959"/>
                </a:solidFill>
                <a:latin typeface="Calibri"/>
              </a:rPr>
              <a:t>Patient</a:t>
            </a:r>
            <a:endParaRPr lang="en-US" sz="1000" b="0" strike="noStrike" spc="-1">
              <a:latin typeface="Arial" panose="020B0604020202090204"/>
            </a:endParaRPr>
          </a:p>
        </p:txBody>
      </p:sp>
      <p:grpSp>
        <p:nvGrpSpPr>
          <p:cNvPr id="50" name="Gruppe 49"/>
          <p:cNvGrpSpPr/>
          <p:nvPr/>
        </p:nvGrpSpPr>
        <p:grpSpPr>
          <a:xfrm>
            <a:off x="178883" y="4141493"/>
            <a:ext cx="1386611" cy="631548"/>
            <a:chOff x="178883" y="4141493"/>
            <a:chExt cx="1386611" cy="631548"/>
          </a:xfrm>
        </p:grpSpPr>
        <p:pic>
          <p:nvPicPr>
            <p:cNvPr id="51" name="Bilde 50"/>
            <p:cNvPicPr>
              <a:picLocks noChangeAspect="1"/>
            </p:cNvPicPr>
            <p:nvPr/>
          </p:nvPicPr>
          <p:blipFill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5763"/>
            <a:stretch>
              <a:fillRect/>
            </a:stretch>
          </p:blipFill>
          <p:spPr>
            <a:xfrm>
              <a:off x="178883" y="4229919"/>
              <a:ext cx="576693" cy="543122"/>
            </a:xfrm>
            <a:prstGeom prst="rect">
              <a:avLst/>
            </a:prstGeom>
          </p:spPr>
        </p:pic>
        <p:sp>
          <p:nvSpPr>
            <p:cNvPr id="52" name="TekstSylinder 51"/>
            <p:cNvSpPr txBox="1"/>
            <p:nvPr/>
          </p:nvSpPr>
          <p:spPr>
            <a:xfrm>
              <a:off x="647284" y="4495960"/>
              <a:ext cx="918210" cy="2755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600" dirty="0">
                  <a:solidFill>
                    <a:srgbClr val="005495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Infrastructure for </a:t>
              </a:r>
              <a:endParaRPr lang="en-US" sz="600" dirty="0">
                <a:solidFill>
                  <a:srgbClr val="005495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algn="ctr"/>
              <a:r>
                <a:rPr lang="en-US" sz="600" dirty="0">
                  <a:solidFill>
                    <a:srgbClr val="005495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Precision Diagnostics</a:t>
              </a:r>
              <a:endParaRPr lang="nb-NO" sz="600" dirty="0">
                <a:solidFill>
                  <a:srgbClr val="005495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pic>
          <p:nvPicPr>
            <p:cNvPr id="53" name="Bilde 52"/>
            <p:cNvPicPr>
              <a:picLocks noChangeAspect="1"/>
            </p:cNvPicPr>
            <p:nvPr/>
          </p:nvPicPr>
          <p:blipFill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717" r="-3477"/>
            <a:stretch>
              <a:fillRect/>
            </a:stretch>
          </p:blipFill>
          <p:spPr>
            <a:xfrm>
              <a:off x="737258" y="4141493"/>
              <a:ext cx="792088" cy="543122"/>
            </a:xfrm>
            <a:prstGeom prst="rect">
              <a:avLst/>
            </a:prstGeom>
          </p:spPr>
        </p:pic>
      </p:grpSp>
      <p:sp>
        <p:nvSpPr>
          <p:cNvPr id="55" name="TextBox 41"/>
          <p:cNvSpPr/>
          <p:nvPr/>
        </p:nvSpPr>
        <p:spPr>
          <a:xfrm>
            <a:off x="56050" y="1044673"/>
            <a:ext cx="679680" cy="21145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00" spc="-1" dirty="0">
                <a:solidFill>
                  <a:srgbClr val="000000"/>
                </a:solidFill>
                <a:latin typeface="Calibri"/>
                <a:sym typeface="+mn-ea"/>
              </a:rPr>
              <a:t>Y of D: </a:t>
            </a:r>
            <a:endParaRPr lang="en-US" sz="800" b="0" strike="noStrike" spc="-1">
              <a:latin typeface="Arial" panose="020B0604020202090204"/>
            </a:endParaRPr>
          </a:p>
        </p:txBody>
      </p:sp>
      <p:sp>
        <p:nvSpPr>
          <p:cNvPr id="57" name="Rectangle 47"/>
          <p:cNvSpPr/>
          <p:nvPr/>
        </p:nvSpPr>
        <p:spPr>
          <a:xfrm>
            <a:off x="144042" y="1696398"/>
            <a:ext cx="1367640" cy="575640"/>
          </a:xfrm>
          <a:prstGeom prst="rect">
            <a:avLst/>
          </a:prstGeom>
          <a:gradFill rotWithShape="0">
            <a:gsLst>
              <a:gs pos="0">
                <a:srgbClr val="D9D9D9"/>
              </a:gs>
              <a:gs pos="100000">
                <a:srgbClr val="A6A6A6"/>
              </a:gs>
            </a:gsLst>
            <a:lin ang="5400000"/>
          </a:gradFill>
          <a:ln>
            <a:solidFill>
              <a:srgbClr val="FFFFFF">
                <a:lumMod val="8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8" name="TextBox 48"/>
          <p:cNvSpPr/>
          <p:nvPr/>
        </p:nvSpPr>
        <p:spPr>
          <a:xfrm>
            <a:off x="75565" y="1785793"/>
            <a:ext cx="651510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595959"/>
                </a:solidFill>
                <a:latin typeface="Calibri"/>
              </a:rPr>
              <a:t>Bio-material</a:t>
            </a:r>
            <a:endParaRPr lang="en-US" sz="1000" b="0" strike="noStrike" spc="-1">
              <a:latin typeface="Arial" panose="020B0604020202090204"/>
            </a:endParaRPr>
          </a:p>
        </p:txBody>
      </p:sp>
      <p:sp>
        <p:nvSpPr>
          <p:cNvPr id="59" name="Rectangle 49"/>
          <p:cNvSpPr/>
          <p:nvPr/>
        </p:nvSpPr>
        <p:spPr>
          <a:xfrm>
            <a:off x="144677" y="2374973"/>
            <a:ext cx="1367640" cy="395640"/>
          </a:xfrm>
          <a:prstGeom prst="rect">
            <a:avLst/>
          </a:prstGeom>
          <a:gradFill rotWithShape="0">
            <a:gsLst>
              <a:gs pos="0">
                <a:srgbClr val="D9D9D9"/>
              </a:gs>
              <a:gs pos="100000">
                <a:srgbClr val="A6A6A6"/>
              </a:gs>
            </a:gsLst>
            <a:lin ang="5400000"/>
          </a:gradFill>
          <a:ln>
            <a:solidFill>
              <a:srgbClr val="FFFFFF">
                <a:lumMod val="8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0" name="TextBox 50"/>
          <p:cNvSpPr/>
          <p:nvPr/>
        </p:nvSpPr>
        <p:spPr>
          <a:xfrm>
            <a:off x="76870" y="2375568"/>
            <a:ext cx="679680" cy="394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 dirty="0">
                <a:solidFill>
                  <a:srgbClr val="595959"/>
                </a:solidFill>
                <a:latin typeface="Calibri"/>
              </a:rPr>
              <a:t>Tumor content</a:t>
            </a:r>
            <a:endParaRPr lang="en-US" sz="1000" b="0" strike="noStrike" spc="-1" dirty="0">
              <a:latin typeface="Arial" panose="020B0604020202090204"/>
            </a:endParaRPr>
          </a:p>
        </p:txBody>
      </p:sp>
      <p:sp>
        <p:nvSpPr>
          <p:cNvPr id="39" name="Rectangle 69"/>
          <p:cNvSpPr/>
          <p:nvPr/>
        </p:nvSpPr>
        <p:spPr>
          <a:xfrm>
            <a:off x="8226138" y="60425"/>
            <a:ext cx="1223640" cy="49098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 smtClean="0">
                <a:solidFill>
                  <a:schemeClr val="bg1"/>
                </a:solidFill>
                <a:latin typeface="Calibri"/>
              </a:rPr>
              <a:t>MDT</a:t>
            </a:r>
            <a:endParaRPr lang="en-US" sz="1600" b="0" strike="noStrike" spc="-1" dirty="0">
              <a:solidFill>
                <a:schemeClr val="bg1"/>
              </a:solidFill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 dirty="0">
                <a:solidFill>
                  <a:schemeClr val="bg1"/>
                </a:solidFill>
                <a:latin typeface="Calibri"/>
              </a:rPr>
              <a:t>Report </a:t>
            </a:r>
            <a:endParaRPr lang="en-US" sz="1000" b="0" strike="noStrike" spc="-1" dirty="0">
              <a:solidFill>
                <a:schemeClr val="bg1"/>
              </a:solidFill>
              <a:latin typeface="Arial" panose="020B0604020202090204"/>
            </a:endParaRPr>
          </a:p>
        </p:txBody>
      </p:sp>
      <p:grpSp>
        <p:nvGrpSpPr>
          <p:cNvPr id="64" name="Gruppe 41"/>
          <p:cNvGrpSpPr/>
          <p:nvPr/>
        </p:nvGrpSpPr>
        <p:grpSpPr>
          <a:xfrm>
            <a:off x="196462" y="1299222"/>
            <a:ext cx="146716" cy="214722"/>
            <a:chOff x="171000" y="979920"/>
            <a:chExt cx="182160" cy="263520"/>
          </a:xfrm>
        </p:grpSpPr>
        <p:sp>
          <p:nvSpPr>
            <p:cNvPr id="65" name="Ellipse 42"/>
            <p:cNvSpPr/>
            <p:nvPr/>
          </p:nvSpPr>
          <p:spPr>
            <a:xfrm>
              <a:off x="209520" y="1195920"/>
              <a:ext cx="106200" cy="47520"/>
            </a:xfrm>
            <a:prstGeom prst="ellipse">
              <a:avLst/>
            </a:prstGeom>
            <a:gradFill rotWithShape="0">
              <a:gsLst>
                <a:gs pos="0">
                  <a:srgbClr val="8EB4E3"/>
                </a:gs>
                <a:gs pos="100000">
                  <a:srgbClr val="0070C0"/>
                </a:gs>
              </a:gsLst>
              <a:lin ang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6" name="Tåre 43"/>
            <p:cNvSpPr/>
            <p:nvPr/>
          </p:nvSpPr>
          <p:spPr>
            <a:xfrm rot="8045400">
              <a:off x="189000" y="1018080"/>
              <a:ext cx="135360" cy="136800"/>
            </a:xfrm>
            <a:prstGeom prst="teardrop">
              <a:avLst>
                <a:gd name="adj" fmla="val 143023"/>
              </a:avLst>
            </a:prstGeom>
            <a:gradFill rotWithShape="0">
              <a:gsLst>
                <a:gs pos="0">
                  <a:srgbClr val="17375E"/>
                </a:gs>
                <a:gs pos="100000">
                  <a:srgbClr val="C6D9F1"/>
                </a:gs>
              </a:gsLst>
              <a:path path="rect">
                <a:fillToRect l="100000" t="100000"/>
              </a:path>
            </a:gradFill>
            <a:ln w="6350">
              <a:solidFill>
                <a:srgbClr val="FFFFFF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7" name="Ellipse 44"/>
            <p:cNvSpPr/>
            <p:nvPr/>
          </p:nvSpPr>
          <p:spPr>
            <a:xfrm>
              <a:off x="227880" y="1067040"/>
              <a:ext cx="52920" cy="54360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91" name="TextBox 90"/>
          <p:cNvSpPr txBox="1"/>
          <p:nvPr/>
        </p:nvSpPr>
        <p:spPr>
          <a:xfrm>
            <a:off x="54864" y="54864"/>
            <a:ext cx="42976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AFAFA"/>
                </a:solidFill>
              </a:defRPr>
            </a:pPr>
            <a:r>
              <a:t>XX</a:t>
            </a:r>
            <a:br/>
            <a:r>
              <a:t>XXX</a:t>
            </a:r>
            <a:br/>
            <a:r>
              <a:t>2026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429000" y="100584"/>
            <a:ext cx="1216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AFAFA"/>
                </a:solidFill>
              </a:defRPr>
            </a:pPr>
            <a:r>
              <a:t>IPD2225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220456" y="18288"/>
            <a:ext cx="411480" cy="50292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 algn="ctr">
              <a:defRPr sz="900">
                <a:solidFill>
                  <a:srgbClr val="FAFAFA"/>
                </a:solidFill>
              </a:defRPr>
            </a:pPr>
            <a:r>
              <a:t>18</a:t>
            </a:r>
            <a:br/>
            <a:r>
              <a:t>MAY</a:t>
            </a:r>
            <a:br/>
            <a:r>
              <a:t>2026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611112" y="475488"/>
            <a:ext cx="2313432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04040"/>
                </a:solidFill>
              </a:defRPr>
            </a:pPr>
            <a:r>
              <a:t>Version string: 2.2.0.12/0.3.2:22-06-07/1.0.0/1.0.0/hg19/TR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57200" y="1344168"/>
            <a:ext cx="7863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AFAFA"/>
                </a:solidFill>
              </a:defRPr>
            </a:pPr>
            <a:r>
              <a:t>OUS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49224" y="1682496"/>
            <a:ext cx="78638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Primary tumor</a:t>
            </a:r>
            <a:br/>
            <a:r>
              <a:t> naive</a:t>
            </a:r>
            <a:br/>
            <a:r>
              <a:t>Archived FFPE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40664" y="2423160"/>
            <a:ext cx="576072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~50%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276088" y="173736"/>
            <a:ext cx="786384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FAFAFA"/>
                </a:solidFill>
              </a:defRPr>
            </a:pPr>
            <a:r>
              <a:t>CNS/Brain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77240" y="1024128"/>
            <a:ext cx="438912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/>
            </a:pPr>
            <a:r>
              <a:t>-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57784" y="320040"/>
            <a:ext cx="932688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AFAFA"/>
                </a:solidFill>
              </a:defRPr>
            </a:pPr>
            <a:r>
              <a:t>OUS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30936" y="722376"/>
            <a:ext cx="79552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M/66y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67512" y="2057400"/>
            <a:ext cx="640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"/>
            </a:pPr>
            <a:r>
              <a:t>DNA:25materialX</a:t>
            </a:r>
            <a:br/>
            <a:r>
              <a:t>RNA:25materialX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920240" y="100584"/>
            <a:ext cx="97840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FAFAFA"/>
                </a:solidFill>
              </a:defRPr>
            </a:pPr>
            <a:r>
              <a:t>Trial ID</a:t>
            </a:r>
            <a:br/>
            <a:r>
              <a:t>MRARE-X-xxxx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691640" y="1143000"/>
            <a:ext cx="29718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/>
            </a:pPr>
            <a:r>
              <a:t>Comment_pathy</a:t>
            </a:r>
            <a:br/>
            <a:br/>
            <a:r>
              <a:t>Comment_sample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3"/>
          <p:cNvSpPr/>
          <p:nvPr/>
        </p:nvSpPr>
        <p:spPr>
          <a:xfrm>
            <a:off x="1645564" y="48920"/>
            <a:ext cx="4968552" cy="576064"/>
          </a:xfrm>
          <a:prstGeom prst="rect">
            <a:avLst/>
          </a:prstGeom>
          <a:solidFill>
            <a:srgbClr val="0070C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Rectangle 39"/>
          <p:cNvSpPr/>
          <p:nvPr/>
        </p:nvSpPr>
        <p:spPr>
          <a:xfrm>
            <a:off x="8233920" y="90720"/>
            <a:ext cx="1223640" cy="486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</a:rPr>
              <a:t>MTB</a:t>
            </a:r>
            <a:endParaRPr lang="en-US" sz="1600" b="0" strike="noStrike" spc="-1"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FFFFFF"/>
                </a:solidFill>
                <a:latin typeface="Calibri"/>
              </a:rPr>
              <a:t>Report </a:t>
            </a:r>
            <a:endParaRPr lang="en-US" sz="1000" b="0" strike="noStrike" spc="-1">
              <a:latin typeface="Arial" panose="020B0604020202090204"/>
            </a:endParaRPr>
          </a:p>
        </p:txBody>
      </p:sp>
      <p:sp>
        <p:nvSpPr>
          <p:cNvPr id="92" name="Rectangle 69"/>
          <p:cNvSpPr/>
          <p:nvPr/>
        </p:nvSpPr>
        <p:spPr>
          <a:xfrm>
            <a:off x="8267400" y="90720"/>
            <a:ext cx="1223640" cy="49098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 smtClean="0">
                <a:solidFill>
                  <a:srgbClr val="FFFFFF"/>
                </a:solidFill>
                <a:latin typeface="Calibri"/>
              </a:rPr>
              <a:t>MDT</a:t>
            </a:r>
            <a:endParaRPr lang="en-US" sz="1600" b="0" strike="noStrike" spc="-1" dirty="0"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 dirty="0">
                <a:solidFill>
                  <a:srgbClr val="FFFFFF"/>
                </a:solidFill>
                <a:latin typeface="Calibri"/>
              </a:rPr>
              <a:t>Report </a:t>
            </a:r>
            <a:endParaRPr lang="en-US" sz="1000" b="0" strike="noStrike" spc="-1" dirty="0">
              <a:latin typeface="Arial" panose="020B0604020202090204"/>
            </a:endParaRPr>
          </a:p>
        </p:txBody>
      </p:sp>
      <p:sp>
        <p:nvSpPr>
          <p:cNvPr id="116" name="Rectangle 55"/>
          <p:cNvSpPr/>
          <p:nvPr/>
        </p:nvSpPr>
        <p:spPr>
          <a:xfrm>
            <a:off x="6630035" y="808355"/>
            <a:ext cx="2447925" cy="69024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FFFF">
                <a:lumMod val="8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7" name="Rectangle 57"/>
          <p:cNvSpPr/>
          <p:nvPr/>
        </p:nvSpPr>
        <p:spPr>
          <a:xfrm>
            <a:off x="6665760" y="811800"/>
            <a:ext cx="2376000" cy="333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</a:rPr>
              <a:t>SEQUENCING FACILITY</a:t>
            </a:r>
            <a:r>
              <a:rPr lang="en-US" sz="1400" b="0" strike="noStrike" spc="-1">
                <a:solidFill>
                  <a:srgbClr val="FFFFFF"/>
                </a:solidFill>
                <a:latin typeface="Calibri"/>
              </a:rPr>
              <a:t> </a:t>
            </a:r>
            <a:endParaRPr lang="en-US" sz="1400" b="0" strike="noStrike" spc="-1">
              <a:latin typeface="Arial" panose="020B0604020202090204"/>
            </a:endParaRPr>
          </a:p>
        </p:txBody>
      </p:sp>
      <p:sp>
        <p:nvSpPr>
          <p:cNvPr id="118" name="Rectangle 58"/>
          <p:cNvSpPr/>
          <p:nvPr/>
        </p:nvSpPr>
        <p:spPr>
          <a:xfrm>
            <a:off x="6537525" y="1059835"/>
            <a:ext cx="2633760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nb-NO" altLang="en-US" sz="1000" b="0" strike="noStrike" spc="-1" dirty="0">
                <a:solidFill>
                  <a:srgbClr val="595959"/>
                </a:solidFill>
                <a:latin typeface="Calibri"/>
              </a:rPr>
              <a:t>Department of Pathology</a:t>
            </a:r>
            <a:r>
              <a:rPr lang="en-US" sz="1000" b="0" strike="noStrike" spc="-1" dirty="0">
                <a:solidFill>
                  <a:srgbClr val="595959"/>
                </a:solidFill>
                <a:latin typeface="Calibri"/>
              </a:rPr>
              <a:t>, </a:t>
            </a:r>
            <a:endParaRPr lang="en-US" sz="1000" b="0" strike="noStrike" spc="-1" dirty="0">
              <a:solidFill>
                <a:srgbClr val="595959"/>
              </a:solidFill>
              <a:latin typeface="Calibri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 dirty="0">
                <a:solidFill>
                  <a:srgbClr val="595959"/>
                </a:solidFill>
                <a:latin typeface="Calibri"/>
              </a:rPr>
              <a:t>Oslo University Hospital</a:t>
            </a:r>
            <a:endParaRPr lang="en-US" sz="1000" b="0" strike="noStrike" spc="-1" dirty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20" name="Rectangle 92"/>
          <p:cNvSpPr/>
          <p:nvPr/>
        </p:nvSpPr>
        <p:spPr>
          <a:xfrm>
            <a:off x="1763640" y="3385440"/>
            <a:ext cx="863640" cy="33372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</a:rPr>
              <a:t>RNA</a:t>
            </a:r>
            <a:r>
              <a:rPr lang="en-US" sz="1400" b="0" strike="noStrike" spc="-1">
                <a:solidFill>
                  <a:srgbClr val="FFFFFF"/>
                </a:solidFill>
                <a:latin typeface="Calibri"/>
              </a:rPr>
              <a:t> </a:t>
            </a:r>
            <a:endParaRPr lang="en-US" sz="1400" b="0" strike="noStrike" spc="-1">
              <a:latin typeface="Arial" panose="020B0604020202090204"/>
            </a:endParaRPr>
          </a:p>
        </p:txBody>
      </p:sp>
      <p:pic>
        <p:nvPicPr>
          <p:cNvPr id="122" name="Picture 4" descr="C:\Users\vigdisny\AppData\Local\Microsoft\Windows\INetCache\IE\4VAY8QE2\Green_check.svg[1]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1913231" y="1041173"/>
            <a:ext cx="390600" cy="390600"/>
          </a:xfrm>
          <a:prstGeom prst="rect">
            <a:avLst/>
          </a:prstGeom>
          <a:ln w="0">
            <a:noFill/>
          </a:ln>
        </p:spPr>
      </p:pic>
      <p:sp>
        <p:nvSpPr>
          <p:cNvPr id="125" name="Rectangle 92"/>
          <p:cNvSpPr/>
          <p:nvPr/>
        </p:nvSpPr>
        <p:spPr>
          <a:xfrm>
            <a:off x="1746000" y="1627560"/>
            <a:ext cx="863640" cy="33372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</a:rPr>
              <a:t>DNA</a:t>
            </a:r>
            <a:r>
              <a:rPr lang="en-US" sz="1400" b="0" strike="noStrike" spc="-1">
                <a:solidFill>
                  <a:srgbClr val="FFFFFF"/>
                </a:solidFill>
                <a:latin typeface="Calibri"/>
              </a:rPr>
              <a:t> </a:t>
            </a:r>
            <a:endParaRPr lang="en-US" sz="1400" b="0" strike="noStrike" spc="-1">
              <a:latin typeface="Arial" panose="020B0604020202090204"/>
            </a:endParaRPr>
          </a:p>
        </p:txBody>
      </p:sp>
      <p:sp>
        <p:nvSpPr>
          <p:cNvPr id="73" name="TextBox 60"/>
          <p:cNvSpPr/>
          <p:nvPr/>
        </p:nvSpPr>
        <p:spPr>
          <a:xfrm>
            <a:off x="254000" y="1980000"/>
            <a:ext cx="167894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endParaRPr lang="en-US" sz="800" b="0" strike="noStrike" spc="-1" dirty="0" smtClean="0"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endParaRPr lang="en-US" sz="800" spc="-1" dirty="0"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endParaRPr lang="en-US" sz="800" b="0" strike="noStrike" spc="-1" dirty="0">
              <a:latin typeface="Arial" panose="020B0604020202090204"/>
            </a:endParaRPr>
          </a:p>
        </p:txBody>
      </p:sp>
      <p:sp>
        <p:nvSpPr>
          <p:cNvPr id="49" name="Rectangle 54"/>
          <p:cNvSpPr/>
          <p:nvPr/>
        </p:nvSpPr>
        <p:spPr>
          <a:xfrm>
            <a:off x="6678138" y="54000"/>
            <a:ext cx="2412000" cy="5756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0" name="Rectangle 62"/>
          <p:cNvSpPr/>
          <p:nvPr/>
        </p:nvSpPr>
        <p:spPr>
          <a:xfrm>
            <a:off x="6580509" y="115200"/>
            <a:ext cx="1223640" cy="395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 dirty="0">
                <a:solidFill>
                  <a:srgbClr val="FFFFFF"/>
                </a:solidFill>
                <a:latin typeface="Calibri"/>
              </a:rPr>
              <a:t>TSO500</a:t>
            </a:r>
            <a:r>
              <a:rPr lang="en-US" sz="14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endParaRPr lang="en-US" sz="1400" b="0" strike="noStrike" spc="-1" dirty="0">
              <a:latin typeface="Arial" panose="020B0604020202090204"/>
            </a:endParaRPr>
          </a:p>
        </p:txBody>
      </p:sp>
      <p:sp>
        <p:nvSpPr>
          <p:cNvPr id="51" name="Rectangle 63"/>
          <p:cNvSpPr/>
          <p:nvPr/>
        </p:nvSpPr>
        <p:spPr>
          <a:xfrm>
            <a:off x="7302558" y="46800"/>
            <a:ext cx="1223640" cy="333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>
                <a:solidFill>
                  <a:srgbClr val="FFFFFF"/>
                </a:solidFill>
                <a:latin typeface="Calibri"/>
              </a:rPr>
              <a:t>DNA</a:t>
            </a:r>
            <a:r>
              <a:rPr lang="en-US" sz="14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endParaRPr lang="en-US" sz="1400" b="0" strike="noStrike" spc="-1" dirty="0">
              <a:latin typeface="Arial" panose="020B0604020202090204"/>
            </a:endParaRPr>
          </a:p>
        </p:txBody>
      </p:sp>
      <p:sp>
        <p:nvSpPr>
          <p:cNvPr id="53" name="Rectangle 64"/>
          <p:cNvSpPr/>
          <p:nvPr/>
        </p:nvSpPr>
        <p:spPr>
          <a:xfrm>
            <a:off x="7302558" y="255600"/>
            <a:ext cx="1223640" cy="333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</a:rPr>
              <a:t>RNA</a:t>
            </a:r>
            <a:r>
              <a:rPr lang="en-US" sz="1400" b="0" strike="noStrike" spc="-1">
                <a:solidFill>
                  <a:srgbClr val="FFFFFF"/>
                </a:solidFill>
                <a:latin typeface="Calibri"/>
              </a:rPr>
              <a:t> </a:t>
            </a:r>
            <a:endParaRPr lang="en-US" sz="1400" b="0" strike="noStrike" spc="-1">
              <a:latin typeface="Arial" panose="020B0604020202090204"/>
            </a:endParaRPr>
          </a:p>
        </p:txBody>
      </p:sp>
      <p:sp>
        <p:nvSpPr>
          <p:cNvPr id="54" name="Straight Connector 65"/>
          <p:cNvSpPr/>
          <p:nvPr/>
        </p:nvSpPr>
        <p:spPr>
          <a:xfrm>
            <a:off x="7662198" y="324000"/>
            <a:ext cx="504000" cy="0"/>
          </a:xfrm>
          <a:prstGeom prst="line">
            <a:avLst/>
          </a:prstGeom>
          <a:ln>
            <a:solidFill>
              <a:srgbClr val="4A7EBB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5" name="Rectangle 67"/>
          <p:cNvSpPr/>
          <p:nvPr/>
        </p:nvSpPr>
        <p:spPr>
          <a:xfrm>
            <a:off x="8239389" y="54000"/>
            <a:ext cx="378360" cy="43416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635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9" name="Rectangle 71"/>
          <p:cNvSpPr/>
          <p:nvPr/>
        </p:nvSpPr>
        <p:spPr>
          <a:xfrm>
            <a:off x="53862" y="54000"/>
            <a:ext cx="1548000" cy="5756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0" name="Rectangle 72"/>
          <p:cNvSpPr/>
          <p:nvPr/>
        </p:nvSpPr>
        <p:spPr>
          <a:xfrm>
            <a:off x="54000" y="54000"/>
            <a:ext cx="431640" cy="576000"/>
          </a:xfrm>
          <a:prstGeom prst="rect">
            <a:avLst/>
          </a:prstGeom>
          <a:solidFill>
            <a:srgbClr val="0070C0"/>
          </a:solidFill>
          <a:ln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2" name="Rectangle 74"/>
          <p:cNvSpPr/>
          <p:nvPr/>
        </p:nvSpPr>
        <p:spPr>
          <a:xfrm>
            <a:off x="558720" y="29700"/>
            <a:ext cx="935640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 dirty="0" smtClean="0">
                <a:solidFill>
                  <a:srgbClr val="FFFFFF"/>
                </a:solidFill>
                <a:latin typeface="Calibri"/>
              </a:rPr>
              <a:t>MDT</a:t>
            </a:r>
            <a:endParaRPr lang="en-US" sz="1400" b="0" strike="noStrike" spc="-1" dirty="0">
              <a:latin typeface="Arial" panose="020B0604020202090204"/>
            </a:endParaRPr>
          </a:p>
        </p:txBody>
      </p:sp>
      <p:sp>
        <p:nvSpPr>
          <p:cNvPr id="80" name="Rectangle 53"/>
          <p:cNvSpPr/>
          <p:nvPr/>
        </p:nvSpPr>
        <p:spPr>
          <a:xfrm>
            <a:off x="1655724" y="54000"/>
            <a:ext cx="4968552" cy="57606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76"/>
          <p:cNvSpPr/>
          <p:nvPr/>
        </p:nvSpPr>
        <p:spPr>
          <a:xfrm>
            <a:off x="1684706" y="718003"/>
            <a:ext cx="4824000" cy="425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 b="1" strike="noStrike" spc="-1" dirty="0">
                <a:solidFill>
                  <a:srgbClr val="000000"/>
                </a:solidFill>
                <a:latin typeface="Calibri"/>
              </a:rPr>
              <a:t>QUALITY CONTROL MEASURES OF SEQUENCING DATA </a:t>
            </a:r>
            <a:endParaRPr lang="en-US" sz="1100" b="0" strike="noStrike" spc="-1" dirty="0">
              <a:latin typeface="Arial" panose="020B0604020202090204"/>
            </a:endParaRPr>
          </a:p>
          <a:p>
            <a:pPr>
              <a:lnSpc>
                <a:spcPct val="100000"/>
              </a:lnSpc>
            </a:pPr>
            <a:r>
              <a:rPr lang="en-US" sz="1100" b="1" strike="noStrike" spc="-1" dirty="0">
                <a:solidFill>
                  <a:srgbClr val="000000"/>
                </a:solidFill>
                <a:latin typeface="Calibri"/>
              </a:rPr>
              <a:t>  </a:t>
            </a:r>
            <a:endParaRPr lang="en-US" sz="1100" b="0" strike="noStrike" spc="-1" dirty="0">
              <a:latin typeface="Arial" panose="020B0604020202090204"/>
            </a:endParaRPr>
          </a:p>
        </p:txBody>
      </p:sp>
      <p:sp>
        <p:nvSpPr>
          <p:cNvPr id="44" name="Rectangle 75"/>
          <p:cNvSpPr/>
          <p:nvPr/>
        </p:nvSpPr>
        <p:spPr>
          <a:xfrm>
            <a:off x="54042" y="676380"/>
            <a:ext cx="1547640" cy="423505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5" name="Rectangle 40"/>
          <p:cNvSpPr/>
          <p:nvPr/>
        </p:nvSpPr>
        <p:spPr>
          <a:xfrm>
            <a:off x="144145" y="771525"/>
            <a:ext cx="1367790" cy="841375"/>
          </a:xfrm>
          <a:prstGeom prst="rect">
            <a:avLst/>
          </a:prstGeom>
          <a:gradFill rotWithShape="0">
            <a:gsLst>
              <a:gs pos="0">
                <a:srgbClr val="D9D9D9"/>
              </a:gs>
              <a:gs pos="100000">
                <a:srgbClr val="A6A6A6"/>
              </a:gs>
            </a:gsLst>
            <a:lin ang="5400000"/>
          </a:gradFill>
          <a:ln>
            <a:solidFill>
              <a:srgbClr val="FFFFFF">
                <a:lumMod val="8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6" name="TextBox 41"/>
          <p:cNvSpPr/>
          <p:nvPr/>
        </p:nvSpPr>
        <p:spPr>
          <a:xfrm>
            <a:off x="75735" y="771623"/>
            <a:ext cx="679680" cy="24257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595959"/>
                </a:solidFill>
                <a:latin typeface="Calibri"/>
              </a:rPr>
              <a:t>Patient</a:t>
            </a:r>
            <a:endParaRPr lang="en-US" sz="1000" b="0" strike="noStrike" spc="-1">
              <a:latin typeface="Arial" panose="020B0604020202090204"/>
            </a:endParaRPr>
          </a:p>
        </p:txBody>
      </p:sp>
      <p:grpSp>
        <p:nvGrpSpPr>
          <p:cNvPr id="57" name="Gruppe 56"/>
          <p:cNvGrpSpPr/>
          <p:nvPr/>
        </p:nvGrpSpPr>
        <p:grpSpPr>
          <a:xfrm>
            <a:off x="178883" y="4141493"/>
            <a:ext cx="1386611" cy="631548"/>
            <a:chOff x="178883" y="4141493"/>
            <a:chExt cx="1386611" cy="631548"/>
          </a:xfrm>
        </p:grpSpPr>
        <p:pic>
          <p:nvPicPr>
            <p:cNvPr id="58" name="Bilde 57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5763"/>
            <a:stretch>
              <a:fillRect/>
            </a:stretch>
          </p:blipFill>
          <p:spPr>
            <a:xfrm>
              <a:off x="178883" y="4229919"/>
              <a:ext cx="576693" cy="543122"/>
            </a:xfrm>
            <a:prstGeom prst="rect">
              <a:avLst/>
            </a:prstGeom>
          </p:spPr>
        </p:pic>
        <p:sp>
          <p:nvSpPr>
            <p:cNvPr id="65" name="TekstSylinder 64"/>
            <p:cNvSpPr txBox="1"/>
            <p:nvPr/>
          </p:nvSpPr>
          <p:spPr>
            <a:xfrm>
              <a:off x="647284" y="4495960"/>
              <a:ext cx="918210" cy="2755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600" dirty="0">
                  <a:solidFill>
                    <a:srgbClr val="005495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Infrastructure for </a:t>
              </a:r>
              <a:endParaRPr lang="en-US" sz="600" dirty="0">
                <a:solidFill>
                  <a:srgbClr val="005495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algn="ctr"/>
              <a:r>
                <a:rPr lang="en-US" sz="600" dirty="0">
                  <a:solidFill>
                    <a:srgbClr val="005495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Precision Diagnostics</a:t>
              </a:r>
              <a:endParaRPr lang="nb-NO" sz="600" dirty="0">
                <a:solidFill>
                  <a:srgbClr val="005495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pic>
          <p:nvPicPr>
            <p:cNvPr id="71" name="Bilde 70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717" r="-3477"/>
            <a:stretch>
              <a:fillRect/>
            </a:stretch>
          </p:blipFill>
          <p:spPr>
            <a:xfrm>
              <a:off x="737258" y="4141493"/>
              <a:ext cx="792088" cy="543122"/>
            </a:xfrm>
            <a:prstGeom prst="rect">
              <a:avLst/>
            </a:prstGeom>
          </p:spPr>
        </p:pic>
      </p:grpSp>
      <p:sp>
        <p:nvSpPr>
          <p:cNvPr id="81" name="TextBox 41"/>
          <p:cNvSpPr/>
          <p:nvPr/>
        </p:nvSpPr>
        <p:spPr>
          <a:xfrm>
            <a:off x="56050" y="1044673"/>
            <a:ext cx="679680" cy="21145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00" spc="-1" dirty="0">
                <a:solidFill>
                  <a:srgbClr val="000000"/>
                </a:solidFill>
                <a:latin typeface="Calibri"/>
                <a:sym typeface="+mn-ea"/>
              </a:rPr>
              <a:t>Y of D: </a:t>
            </a:r>
            <a:endParaRPr lang="en-US" sz="800" b="0" strike="noStrike" spc="-1">
              <a:latin typeface="Arial" panose="020B0604020202090204"/>
            </a:endParaRPr>
          </a:p>
        </p:txBody>
      </p:sp>
      <p:sp>
        <p:nvSpPr>
          <p:cNvPr id="82" name="Rectangle 47"/>
          <p:cNvSpPr/>
          <p:nvPr/>
        </p:nvSpPr>
        <p:spPr>
          <a:xfrm>
            <a:off x="144042" y="1696398"/>
            <a:ext cx="1367640" cy="575640"/>
          </a:xfrm>
          <a:prstGeom prst="rect">
            <a:avLst/>
          </a:prstGeom>
          <a:gradFill rotWithShape="0">
            <a:gsLst>
              <a:gs pos="0">
                <a:srgbClr val="D9D9D9"/>
              </a:gs>
              <a:gs pos="100000">
                <a:srgbClr val="A6A6A6"/>
              </a:gs>
            </a:gsLst>
            <a:lin ang="5400000"/>
          </a:gradFill>
          <a:ln>
            <a:solidFill>
              <a:srgbClr val="FFFFFF">
                <a:lumMod val="8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5" name="TextBox 48"/>
          <p:cNvSpPr/>
          <p:nvPr/>
        </p:nvSpPr>
        <p:spPr>
          <a:xfrm>
            <a:off x="75565" y="1785793"/>
            <a:ext cx="651510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595959"/>
                </a:solidFill>
                <a:latin typeface="Calibri"/>
              </a:rPr>
              <a:t>Bio-material</a:t>
            </a:r>
            <a:endParaRPr lang="en-US" sz="1000" b="0" strike="noStrike" spc="-1">
              <a:latin typeface="Arial" panose="020B0604020202090204"/>
            </a:endParaRPr>
          </a:p>
        </p:txBody>
      </p:sp>
      <p:sp>
        <p:nvSpPr>
          <p:cNvPr id="86" name="Rectangle 49"/>
          <p:cNvSpPr/>
          <p:nvPr/>
        </p:nvSpPr>
        <p:spPr>
          <a:xfrm>
            <a:off x="144677" y="2374973"/>
            <a:ext cx="1367640" cy="395640"/>
          </a:xfrm>
          <a:prstGeom prst="rect">
            <a:avLst/>
          </a:prstGeom>
          <a:gradFill rotWithShape="0">
            <a:gsLst>
              <a:gs pos="0">
                <a:srgbClr val="D9D9D9"/>
              </a:gs>
              <a:gs pos="100000">
                <a:srgbClr val="A6A6A6"/>
              </a:gs>
            </a:gsLst>
            <a:lin ang="5400000"/>
          </a:gradFill>
          <a:ln>
            <a:solidFill>
              <a:srgbClr val="FFFFFF">
                <a:lumMod val="8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7" name="TextBox 50"/>
          <p:cNvSpPr/>
          <p:nvPr/>
        </p:nvSpPr>
        <p:spPr>
          <a:xfrm>
            <a:off x="76870" y="2375568"/>
            <a:ext cx="679680" cy="394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 dirty="0">
                <a:solidFill>
                  <a:srgbClr val="595959"/>
                </a:solidFill>
                <a:latin typeface="Calibri"/>
              </a:rPr>
              <a:t>Tumor content</a:t>
            </a:r>
            <a:endParaRPr lang="en-US" sz="1000" b="0" strike="noStrike" spc="-1" dirty="0">
              <a:latin typeface="Arial" panose="020B0604020202090204"/>
            </a:endParaRPr>
          </a:p>
        </p:txBody>
      </p:sp>
      <p:sp>
        <p:nvSpPr>
          <p:cNvPr id="88" name="Rectangle 69"/>
          <p:cNvSpPr/>
          <p:nvPr/>
        </p:nvSpPr>
        <p:spPr>
          <a:xfrm>
            <a:off x="8226138" y="60425"/>
            <a:ext cx="1223640" cy="49098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 smtClean="0">
                <a:solidFill>
                  <a:schemeClr val="bg1"/>
                </a:solidFill>
                <a:latin typeface="Calibri"/>
              </a:rPr>
              <a:t>MDT</a:t>
            </a:r>
            <a:endParaRPr lang="en-US" sz="1600" b="0" strike="noStrike" spc="-1" dirty="0">
              <a:solidFill>
                <a:schemeClr val="bg1"/>
              </a:solidFill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 dirty="0">
                <a:solidFill>
                  <a:schemeClr val="bg1"/>
                </a:solidFill>
                <a:latin typeface="Calibri"/>
              </a:rPr>
              <a:t>Report </a:t>
            </a:r>
            <a:endParaRPr lang="en-US" sz="1000" b="0" strike="noStrike" spc="-1" dirty="0">
              <a:solidFill>
                <a:schemeClr val="bg1"/>
              </a:solidFill>
              <a:latin typeface="Arial" panose="020B0604020202090204"/>
            </a:endParaRPr>
          </a:p>
        </p:txBody>
      </p:sp>
      <p:sp>
        <p:nvSpPr>
          <p:cNvPr id="93" name="Rectangle 94"/>
          <p:cNvSpPr/>
          <p:nvPr/>
        </p:nvSpPr>
        <p:spPr>
          <a:xfrm>
            <a:off x="19645" y="4880472"/>
            <a:ext cx="1743938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00" dirty="0" smtClean="0">
                <a:solidFill>
                  <a:schemeClr val="tx1"/>
                </a:solidFill>
              </a:rPr>
              <a:t>VAF=variant allele fraction , </a:t>
            </a:r>
            <a:endParaRPr lang="en-US" sz="600" dirty="0" smtClean="0">
              <a:solidFill>
                <a:schemeClr val="tx1"/>
              </a:solidFill>
            </a:endParaRPr>
          </a:p>
          <a:p>
            <a:r>
              <a:rPr lang="en-US" sz="600" dirty="0" smtClean="0">
                <a:solidFill>
                  <a:schemeClr val="tx1"/>
                </a:solidFill>
              </a:rPr>
              <a:t>CN=copy number </a:t>
            </a:r>
            <a:r>
              <a:rPr lang="en-US" sz="600" dirty="0" smtClean="0">
                <a:solidFill>
                  <a:schemeClr val="tx1"/>
                </a:solidFill>
                <a:sym typeface="+mn-ea"/>
              </a:rPr>
              <a:t>(assumes  ploidy 2).</a:t>
            </a:r>
            <a:r>
              <a:rPr lang="en-US" sz="600" dirty="0" smtClean="0">
                <a:solidFill>
                  <a:srgbClr val="FF0000"/>
                </a:solidFill>
                <a:sym typeface="+mn-ea"/>
              </a:rPr>
              <a:t> </a:t>
            </a:r>
            <a:r>
              <a:rPr lang="en-US" sz="600" dirty="0" smtClean="0">
                <a:solidFill>
                  <a:schemeClr val="tx1"/>
                </a:solidFill>
              </a:rPr>
              <a:t> </a:t>
            </a:r>
            <a:endParaRPr lang="en-US" sz="600" dirty="0" smtClean="0">
              <a:solidFill>
                <a:schemeClr val="tx1"/>
              </a:solidFill>
            </a:endParaRPr>
          </a:p>
        </p:txBody>
      </p:sp>
      <p:grpSp>
        <p:nvGrpSpPr>
          <p:cNvPr id="63" name="Gruppe 41"/>
          <p:cNvGrpSpPr/>
          <p:nvPr/>
        </p:nvGrpSpPr>
        <p:grpSpPr>
          <a:xfrm>
            <a:off x="196462" y="1299222"/>
            <a:ext cx="146716" cy="214722"/>
            <a:chOff x="171000" y="979920"/>
            <a:chExt cx="182160" cy="263520"/>
          </a:xfrm>
        </p:grpSpPr>
        <p:sp>
          <p:nvSpPr>
            <p:cNvPr id="64" name="Ellipse 42"/>
            <p:cNvSpPr/>
            <p:nvPr/>
          </p:nvSpPr>
          <p:spPr>
            <a:xfrm>
              <a:off x="209520" y="1195920"/>
              <a:ext cx="106200" cy="47520"/>
            </a:xfrm>
            <a:prstGeom prst="ellipse">
              <a:avLst/>
            </a:prstGeom>
            <a:gradFill rotWithShape="0">
              <a:gsLst>
                <a:gs pos="0">
                  <a:srgbClr val="8EB4E3"/>
                </a:gs>
                <a:gs pos="100000">
                  <a:srgbClr val="0070C0"/>
                </a:gs>
              </a:gsLst>
              <a:lin ang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6" name="Tåre 43"/>
            <p:cNvSpPr/>
            <p:nvPr/>
          </p:nvSpPr>
          <p:spPr>
            <a:xfrm rot="8045400">
              <a:off x="189000" y="1018080"/>
              <a:ext cx="135360" cy="136800"/>
            </a:xfrm>
            <a:prstGeom prst="teardrop">
              <a:avLst>
                <a:gd name="adj" fmla="val 143023"/>
              </a:avLst>
            </a:prstGeom>
            <a:gradFill rotWithShape="0">
              <a:gsLst>
                <a:gs pos="0">
                  <a:srgbClr val="17375E"/>
                </a:gs>
                <a:gs pos="100000">
                  <a:srgbClr val="C6D9F1"/>
                </a:gs>
              </a:gsLst>
              <a:path path="rect">
                <a:fillToRect l="100000" t="100000"/>
              </a:path>
            </a:gradFill>
            <a:ln w="6350">
              <a:solidFill>
                <a:srgbClr val="FFFFFF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67" name="Ellipse 44"/>
            <p:cNvSpPr/>
            <p:nvPr/>
          </p:nvSpPr>
          <p:spPr>
            <a:xfrm>
              <a:off x="227880" y="1067040"/>
              <a:ext cx="52920" cy="54360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2" name="TekstSylinder 1"/>
          <p:cNvSpPr txBox="1"/>
          <p:nvPr/>
        </p:nvSpPr>
        <p:spPr>
          <a:xfrm>
            <a:off x="2261398" y="1000269"/>
            <a:ext cx="2745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1"/>
                </a:solidFill>
              </a:rPr>
              <a:t>Approved if observed quality metrics are within regions marked green </a:t>
            </a:r>
            <a:endParaRPr lang="en-US" sz="1200" dirty="0" smtClean="0">
              <a:solidFill>
                <a:schemeClr val="tx1"/>
              </a:solidFill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54864" y="54864"/>
            <a:ext cx="42976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AFAFA"/>
                </a:solidFill>
              </a:defRPr>
            </a:pPr>
            <a:r>
              <a:t>XX</a:t>
            </a:r>
            <a:br/>
            <a:r>
              <a:t>XXX</a:t>
            </a:r>
            <a:br/>
            <a:r>
              <a:t>2026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429000" y="100584"/>
            <a:ext cx="1216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AFAFA"/>
                </a:solidFill>
              </a:defRPr>
            </a:pPr>
            <a:r>
              <a:t>IPD2225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220456" y="18288"/>
            <a:ext cx="411480" cy="50292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 algn="ctr">
              <a:defRPr sz="900">
                <a:solidFill>
                  <a:srgbClr val="FAFAFA"/>
                </a:solidFill>
              </a:defRPr>
            </a:pPr>
            <a:r>
              <a:t>18</a:t>
            </a:r>
            <a:br/>
            <a:r>
              <a:t>MAY</a:t>
            </a:r>
            <a:br/>
            <a:r>
              <a:t>2026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611112" y="475488"/>
            <a:ext cx="2313432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04040"/>
                </a:solidFill>
              </a:defRPr>
            </a:pPr>
            <a:r>
              <a:t>Version string: 2.2.0.12/0.3.2:22-06-07/1.0.0/1.0.0/hg19/TR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57200" y="1344168"/>
            <a:ext cx="7863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AFAFA"/>
                </a:solidFill>
              </a:defRPr>
            </a:pPr>
            <a:r>
              <a:t>OUS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49224" y="1682496"/>
            <a:ext cx="78638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Primary tumor</a:t>
            </a:r>
            <a:br/>
            <a:r>
              <a:t> naive</a:t>
            </a:r>
            <a:br/>
            <a:r>
              <a:t>Archived FFPE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40664" y="2423160"/>
            <a:ext cx="576072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~50%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276088" y="173736"/>
            <a:ext cx="786384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FAFAFA"/>
                </a:solidFill>
              </a:defRPr>
            </a:pPr>
            <a:r>
              <a:t>CNS/Brain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77240" y="1024128"/>
            <a:ext cx="438912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/>
            </a:pPr>
            <a:r>
              <a:t>-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57784" y="320040"/>
            <a:ext cx="932688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AFAFA"/>
                </a:solidFill>
              </a:defRPr>
            </a:pPr>
            <a:r>
              <a:t>OUS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30936" y="722376"/>
            <a:ext cx="79552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M/66y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67512" y="2057400"/>
            <a:ext cx="640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"/>
            </a:pPr>
            <a:r>
              <a:t>DNA:25materialX</a:t>
            </a:r>
            <a:br/>
            <a:r>
              <a:t>RNA:25materialX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920240" y="100584"/>
            <a:ext cx="97840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FAFAFA"/>
                </a:solidFill>
              </a:defRPr>
            </a:pPr>
            <a:r>
              <a:t>Trial ID</a:t>
            </a:r>
            <a:br/>
            <a:r>
              <a:t>MRARE-X-xxxx</a:t>
            </a:r>
          </a:p>
        </p:txBody>
      </p:sp>
      <p:pic>
        <p:nvPicPr>
          <p:cNvPr id="139" name="Picture 138" descr="IPD2225-D01-P01-A08_sample_QC_pl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0" y="1417320"/>
            <a:ext cx="3017520" cy="1600200"/>
          </a:xfrm>
          <a:prstGeom prst="rect">
            <a:avLst/>
          </a:prstGeom>
        </p:spPr>
      </p:pic>
      <p:pic>
        <p:nvPicPr>
          <p:cNvPr id="140" name="Picture 139" descr="IPD2225-R03-P01-A08_sample_QC_pl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0" y="3145536"/>
            <a:ext cx="3017520" cy="1600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3"/>
          <p:cNvSpPr/>
          <p:nvPr/>
        </p:nvSpPr>
        <p:spPr>
          <a:xfrm>
            <a:off x="1645564" y="48920"/>
            <a:ext cx="4968552" cy="576064"/>
          </a:xfrm>
          <a:prstGeom prst="rect">
            <a:avLst/>
          </a:prstGeom>
          <a:solidFill>
            <a:srgbClr val="0070C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Rectangle 69"/>
          <p:cNvSpPr/>
          <p:nvPr/>
        </p:nvSpPr>
        <p:spPr>
          <a:xfrm>
            <a:off x="8267241" y="90678"/>
            <a:ext cx="122413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/>
                </a:solidFill>
              </a:rPr>
              <a:t>MTB</a:t>
            </a:r>
            <a:endParaRPr lang="en-US" sz="1600" dirty="0" smtClean="0">
              <a:solidFill>
                <a:schemeClr val="bg1"/>
              </a:solidFill>
            </a:endParaRPr>
          </a:p>
          <a:p>
            <a:pPr algn="ctr"/>
            <a:r>
              <a:rPr lang="en-US" sz="1000" dirty="0" smtClean="0">
                <a:solidFill>
                  <a:schemeClr val="bg1"/>
                </a:solidFill>
              </a:rPr>
              <a:t>Report 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78" name="Rectangle 45"/>
          <p:cNvSpPr/>
          <p:nvPr/>
        </p:nvSpPr>
        <p:spPr>
          <a:xfrm>
            <a:off x="1684706" y="711221"/>
            <a:ext cx="224454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 smtClean="0"/>
              <a:t>SUMMARY OF KEY FINDINGS </a:t>
            </a:r>
            <a:endParaRPr lang="en-US" sz="1100" b="1" dirty="0"/>
          </a:p>
        </p:txBody>
      </p:sp>
      <p:graphicFrame>
        <p:nvGraphicFramePr>
          <p:cNvPr id="79" name="Table 4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691680" y="987573"/>
          <a:ext cx="4851641" cy="320040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371118"/>
                <a:gridCol w="1261802"/>
                <a:gridCol w="324000"/>
                <a:gridCol w="816460"/>
                <a:gridCol w="742236"/>
                <a:gridCol w="519566"/>
                <a:gridCol w="816459"/>
              </a:tblGrid>
              <a:tr h="31203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b-NO" sz="700" b="1" dirty="0" smtClean="0"/>
                        <a:t>SNVs/</a:t>
                      </a:r>
                      <a:endParaRPr lang="nb-NO" sz="700" b="1" dirty="0" smtClean="0"/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b-NO" sz="700" b="1" dirty="0" smtClean="0"/>
                        <a:t>indels</a:t>
                      </a:r>
                      <a:endParaRPr lang="en-US" sz="700" b="1" dirty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i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Total nr</a:t>
                      </a:r>
                      <a:r>
                        <a:rPr lang="en-US" sz="700" i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of SNVs/indels</a:t>
                      </a:r>
                      <a:endParaRPr lang="en-US" sz="700" i="1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 protein coding sequence</a:t>
                      </a:r>
                      <a:endParaRPr lang="en-US" sz="700" b="1" i="0" baseline="0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+mn-lt"/>
                        <a:ea typeface="+mn-ea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1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alter protein coding sequence</a:t>
                      </a:r>
                      <a:endParaRPr lang="en-US" sz="600" dirty="0" smtClean="0">
                        <a:solidFill>
                          <a:schemeClr val="tx1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dirty="0" smtClean="0">
                        <a:solidFill>
                          <a:schemeClr val="tx1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dirty="0" smtClean="0">
                        <a:solidFill>
                          <a:schemeClr val="tx1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1" dirty="0" smtClean="0">
                        <a:solidFill>
                          <a:schemeClr val="tx1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 smtClean="0"/>
                        <a:t>Copy number variants</a:t>
                      </a:r>
                      <a:endParaRPr lang="en-US" sz="700" b="1" dirty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latin typeface="+mn-lt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 smtClean="0">
                          <a:latin typeface="+mn-lt"/>
                          <a:ea typeface="Times New Roman" panose="02020503050405090304"/>
                        </a:rPr>
                        <a:t>Gene</a:t>
                      </a:r>
                      <a:r>
                        <a:rPr lang="en-US" sz="700" b="1" baseline="0" dirty="0" smtClean="0">
                          <a:latin typeface="+mn-lt"/>
                          <a:ea typeface="Times New Roman" panose="02020503050405090304"/>
                        </a:rPr>
                        <a:t> fusions</a:t>
                      </a:r>
                      <a:endParaRPr lang="en-US" sz="700" b="1" baseline="0" dirty="0" smtClean="0">
                        <a:latin typeface="+mn-lt"/>
                        <a:ea typeface="Times New Roman" panose="02020503050405090304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baseline="0" dirty="0" smtClean="0">
                          <a:latin typeface="+mn-lt"/>
                          <a:ea typeface="Times New Roman" panose="02020503050405090304"/>
                        </a:rPr>
                        <a:t> </a:t>
                      </a:r>
                      <a:r>
                        <a:rPr lang="en-US" sz="7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Times New Roman" panose="02020503050405090304"/>
                        </a:rPr>
                        <a:t>RNA</a:t>
                      </a:r>
                      <a:endParaRPr lang="en-US" sz="7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latin typeface="+mn-lt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0" name="Table 49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691680" y="1462405"/>
          <a:ext cx="4845200" cy="365760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563084"/>
                <a:gridCol w="2942958"/>
                <a:gridCol w="520358"/>
                <a:gridCol w="818800"/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b-NO" sz="1000" b="0" dirty="0" smtClean="0"/>
                        <a:t>TMB</a:t>
                      </a:r>
                      <a:endParaRPr lang="en-US" sz="1000" b="0" dirty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600" dirty="0" smtClean="0">
                        <a:latin typeface="Times New Roman" panose="02020503050405090304"/>
                        <a:ea typeface="Times New Roman" panose="02020503050405090304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600" dirty="0" smtClean="0">
                        <a:latin typeface="Times New Roman" panose="02020503050405090304"/>
                        <a:ea typeface="Times New Roman" panose="02020503050405090304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600" dirty="0" smtClean="0">
                        <a:latin typeface="Times New Roman" panose="02020503050405090304"/>
                        <a:ea typeface="Times New Roman" panose="02020503050405090304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600" dirty="0" smtClean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nb-NO" sz="1100" b="0" dirty="0" smtClean="0">
                        <a:latin typeface="+mn-lt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nb-NO" sz="800" b="0" dirty="0" smtClean="0">
                          <a:latin typeface="+mn-lt"/>
                          <a:ea typeface="+mn-ea"/>
                        </a:rPr>
                        <a:t>status</a:t>
                      </a:r>
                      <a:endParaRPr lang="en-US" sz="800" b="0" dirty="0" smtClean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83" name="Straight Connector 85"/>
          <p:cNvCxnSpPr/>
          <p:nvPr/>
        </p:nvCxnSpPr>
        <p:spPr>
          <a:xfrm>
            <a:off x="1763688" y="1853532"/>
            <a:ext cx="46805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50"/>
          <p:cNvSpPr/>
          <p:nvPr/>
        </p:nvSpPr>
        <p:spPr>
          <a:xfrm>
            <a:off x="2483768" y="1544201"/>
            <a:ext cx="2520280" cy="72008"/>
          </a:xfrm>
          <a:prstGeom prst="rect">
            <a:avLst/>
          </a:prstGeom>
          <a:gradFill flip="none" rotWithShape="1">
            <a:gsLst>
              <a:gs pos="0">
                <a:srgbClr val="0070C0"/>
              </a:gs>
              <a:gs pos="7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5" name="Straight Connector 53"/>
          <p:cNvCxnSpPr/>
          <p:nvPr/>
        </p:nvCxnSpPr>
        <p:spPr>
          <a:xfrm>
            <a:off x="3347864" y="1544201"/>
            <a:ext cx="0" cy="7200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54"/>
          <p:cNvSpPr txBox="1"/>
          <p:nvPr/>
        </p:nvSpPr>
        <p:spPr>
          <a:xfrm>
            <a:off x="2457568" y="1573456"/>
            <a:ext cx="34825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i="1" dirty="0" smtClean="0"/>
              <a:t>Low</a:t>
            </a:r>
            <a:endParaRPr lang="en-US" sz="600" i="1" dirty="0"/>
          </a:p>
        </p:txBody>
      </p:sp>
      <p:sp>
        <p:nvSpPr>
          <p:cNvPr id="91" name="TextBox 55"/>
          <p:cNvSpPr txBox="1"/>
          <p:nvPr/>
        </p:nvSpPr>
        <p:spPr>
          <a:xfrm>
            <a:off x="2755081" y="1575266"/>
            <a:ext cx="64807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i="1" dirty="0" smtClean="0"/>
              <a:t>Intermediate</a:t>
            </a:r>
            <a:endParaRPr lang="en-US" sz="600" i="1" dirty="0"/>
          </a:p>
        </p:txBody>
      </p:sp>
      <p:sp>
        <p:nvSpPr>
          <p:cNvPr id="92" name="TextBox 56"/>
          <p:cNvSpPr txBox="1"/>
          <p:nvPr/>
        </p:nvSpPr>
        <p:spPr>
          <a:xfrm>
            <a:off x="3491880" y="1573972"/>
            <a:ext cx="64807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i="1" dirty="0" smtClean="0"/>
              <a:t>High</a:t>
            </a:r>
            <a:endParaRPr lang="en-US" sz="600" i="1" dirty="0"/>
          </a:p>
        </p:txBody>
      </p:sp>
      <p:sp>
        <p:nvSpPr>
          <p:cNvPr id="116" name="TextBox 60"/>
          <p:cNvSpPr txBox="1"/>
          <p:nvPr/>
        </p:nvSpPr>
        <p:spPr>
          <a:xfrm>
            <a:off x="2669510" y="1605037"/>
            <a:ext cx="2338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i="1" dirty="0" smtClean="0"/>
              <a:t>5</a:t>
            </a:r>
            <a:endParaRPr lang="en-US" sz="600" b="1" i="1" dirty="0"/>
          </a:p>
        </p:txBody>
      </p:sp>
      <p:sp>
        <p:nvSpPr>
          <p:cNvPr id="122" name="TextBox 61"/>
          <p:cNvSpPr txBox="1"/>
          <p:nvPr/>
        </p:nvSpPr>
        <p:spPr>
          <a:xfrm>
            <a:off x="3207296" y="1612835"/>
            <a:ext cx="28458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i="1" dirty="0" smtClean="0"/>
              <a:t>20</a:t>
            </a:r>
            <a:endParaRPr lang="en-US" sz="600" b="1" i="1" dirty="0"/>
          </a:p>
        </p:txBody>
      </p:sp>
      <p:sp>
        <p:nvSpPr>
          <p:cNvPr id="131" name="Rectangle 80"/>
          <p:cNvSpPr/>
          <p:nvPr/>
        </p:nvSpPr>
        <p:spPr>
          <a:xfrm>
            <a:off x="3975800" y="1623394"/>
            <a:ext cx="1188146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00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Potentially overestimated TMB*</a:t>
            </a:r>
            <a:endParaRPr lang="en-US" sz="600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2" name="TextBox 81"/>
          <p:cNvSpPr txBox="1"/>
          <p:nvPr/>
        </p:nvSpPr>
        <p:spPr>
          <a:xfrm>
            <a:off x="3901951" y="1571012"/>
            <a:ext cx="1440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rgbClr val="FFC000"/>
                </a:solidFill>
              </a:rPr>
              <a:t>o</a:t>
            </a:r>
            <a:endParaRPr lang="en-US" sz="1100" dirty="0">
              <a:solidFill>
                <a:srgbClr val="FFC000"/>
              </a:solidFill>
            </a:endParaRPr>
          </a:p>
        </p:txBody>
      </p:sp>
      <p:sp>
        <p:nvSpPr>
          <p:cNvPr id="103" name="TextBox 54"/>
          <p:cNvSpPr txBox="1"/>
          <p:nvPr/>
        </p:nvSpPr>
        <p:spPr>
          <a:xfrm>
            <a:off x="2197995" y="1473248"/>
            <a:ext cx="348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 err="1" smtClean="0"/>
              <a:t>Mut</a:t>
            </a:r>
            <a:r>
              <a:rPr lang="en-US" sz="600" dirty="0" smtClean="0"/>
              <a:t>/Mb</a:t>
            </a:r>
            <a:endParaRPr lang="en-US" sz="600" dirty="0"/>
          </a:p>
        </p:txBody>
      </p:sp>
      <p:sp>
        <p:nvSpPr>
          <p:cNvPr id="12" name="Rectangle 69"/>
          <p:cNvSpPr/>
          <p:nvPr/>
        </p:nvSpPr>
        <p:spPr>
          <a:xfrm>
            <a:off x="8267400" y="90720"/>
            <a:ext cx="1223640" cy="49098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 smtClean="0">
                <a:solidFill>
                  <a:srgbClr val="FFFFFF"/>
                </a:solidFill>
                <a:latin typeface="Calibri"/>
              </a:rPr>
              <a:t>MDT</a:t>
            </a:r>
            <a:endParaRPr lang="en-US" sz="1600" b="0" strike="noStrike" spc="-1" dirty="0"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 dirty="0">
                <a:solidFill>
                  <a:srgbClr val="FFFFFF"/>
                </a:solidFill>
                <a:latin typeface="Calibri"/>
              </a:rPr>
              <a:t>Report </a:t>
            </a:r>
            <a:endParaRPr lang="en-US" sz="1000" b="0" strike="noStrike" spc="-1" dirty="0">
              <a:latin typeface="Arial" panose="020B0604020202090204"/>
            </a:endParaRPr>
          </a:p>
        </p:txBody>
      </p:sp>
      <p:sp>
        <p:nvSpPr>
          <p:cNvPr id="73" name="TextBox 60"/>
          <p:cNvSpPr/>
          <p:nvPr/>
        </p:nvSpPr>
        <p:spPr>
          <a:xfrm>
            <a:off x="254000" y="1980000"/>
            <a:ext cx="1678940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endParaRPr lang="en-US" sz="800" b="0" strike="noStrike" spc="-1" dirty="0" smtClean="0"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endParaRPr lang="en-US" sz="800" spc="-1" dirty="0"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endParaRPr lang="en-US" sz="800" b="0" strike="noStrike" spc="-1" dirty="0" smtClean="0"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endParaRPr lang="en-US" sz="800" b="0" strike="noStrike" spc="-1" dirty="0">
              <a:latin typeface="Arial" panose="020B0604020202090204"/>
            </a:endParaRPr>
          </a:p>
        </p:txBody>
      </p:sp>
      <p:cxnSp>
        <p:nvCxnSpPr>
          <p:cNvPr id="86" name="Straight Connector 53"/>
          <p:cNvCxnSpPr/>
          <p:nvPr/>
        </p:nvCxnSpPr>
        <p:spPr>
          <a:xfrm>
            <a:off x="2771800" y="1544201"/>
            <a:ext cx="0" cy="7200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 Box 2"/>
          <p:cNvSpPr/>
          <p:nvPr/>
        </p:nvSpPr>
        <p:spPr>
          <a:xfrm>
            <a:off x="1660320" y="1966273"/>
            <a:ext cx="4883001" cy="365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900" spc="-1" dirty="0" smtClean="0">
                <a:latin typeface="Calibri"/>
              </a:rPr>
              <a:t>TMB </a:t>
            </a:r>
            <a:r>
              <a:rPr lang="en-US" sz="900" spc="-1" dirty="0" err="1" smtClean="0">
                <a:latin typeface="Calibri"/>
              </a:rPr>
              <a:t>InPreD</a:t>
            </a:r>
            <a:r>
              <a:rPr lang="en-US" sz="900" spc="-1" dirty="0" smtClean="0">
                <a:latin typeface="Calibri"/>
              </a:rPr>
              <a:t> calculated as </a:t>
            </a:r>
            <a:r>
              <a:rPr lang="en-US" sz="900" b="0" strike="noStrike" spc="-1" dirty="0" smtClean="0"/>
              <a:t>Eligible </a:t>
            </a:r>
            <a:r>
              <a:rPr lang="en-US" sz="900" b="0" strike="noStrike" spc="-1" dirty="0"/>
              <a:t>variant / Effective Panel </a:t>
            </a:r>
            <a:r>
              <a:rPr lang="en-US" sz="900" spc="-1" dirty="0"/>
              <a:t>Size </a:t>
            </a:r>
            <a:r>
              <a:rPr lang="en-US" sz="900" spc="-1" dirty="0" smtClean="0"/>
              <a:t>in Millions of bases: </a:t>
            </a:r>
            <a:endParaRPr lang="en-US" sz="900" b="0" strike="noStrike" spc="-1" dirty="0" smtClean="0"/>
          </a:p>
          <a:p>
            <a:pPr>
              <a:lnSpc>
                <a:spcPct val="100000"/>
              </a:lnSpc>
            </a:pPr>
            <a:r>
              <a:rPr lang="en-US" sz="900" spc="-1" dirty="0" smtClean="0"/>
              <a:t>Report </a:t>
            </a:r>
            <a:r>
              <a:rPr lang="en-US" sz="900" spc="-1" dirty="0"/>
              <a:t>from the </a:t>
            </a:r>
            <a:r>
              <a:rPr lang="en-US" sz="900" spc="-1" dirty="0" err="1" smtClean="0"/>
              <a:t>LocalApp</a:t>
            </a:r>
            <a:r>
              <a:rPr lang="en-US" sz="900" spc="-1" dirty="0" smtClean="0"/>
              <a:t> from Illumina: TMB including synonymous </a:t>
            </a:r>
            <a:r>
              <a:rPr lang="en-US" sz="900" spc="-1" dirty="0"/>
              <a:t>(eligible variants</a:t>
            </a:r>
            <a:r>
              <a:rPr lang="en-US" sz="900" spc="-1" dirty="0" smtClean="0"/>
              <a:t>)</a:t>
            </a:r>
            <a:r>
              <a:rPr lang="nb-NO" altLang="en-US" sz="900" spc="-1" dirty="0" smtClean="0"/>
              <a:t>:</a:t>
            </a:r>
            <a:r>
              <a:rPr lang="en-US" sz="900" spc="-1" dirty="0" smtClean="0"/>
              <a:t> </a:t>
            </a:r>
            <a:endParaRPr lang="en-US" sz="900" spc="-1" dirty="0"/>
          </a:p>
        </p:txBody>
      </p:sp>
      <p:sp>
        <p:nvSpPr>
          <p:cNvPr id="71" name="Rectangle 54"/>
          <p:cNvSpPr/>
          <p:nvPr/>
        </p:nvSpPr>
        <p:spPr>
          <a:xfrm>
            <a:off x="6678138" y="54000"/>
            <a:ext cx="2412000" cy="5756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1" name="Rectangle 62"/>
          <p:cNvSpPr/>
          <p:nvPr/>
        </p:nvSpPr>
        <p:spPr>
          <a:xfrm>
            <a:off x="6580509" y="115200"/>
            <a:ext cx="1223640" cy="395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 dirty="0">
                <a:solidFill>
                  <a:srgbClr val="FFFFFF"/>
                </a:solidFill>
                <a:latin typeface="Calibri"/>
              </a:rPr>
              <a:t>TSO500</a:t>
            </a:r>
            <a:r>
              <a:rPr lang="en-US" sz="14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endParaRPr lang="en-US" sz="1400" b="0" strike="noStrike" spc="-1" dirty="0">
              <a:latin typeface="Arial" panose="020B0604020202090204"/>
            </a:endParaRPr>
          </a:p>
        </p:txBody>
      </p:sp>
      <p:sp>
        <p:nvSpPr>
          <p:cNvPr id="82" name="Rectangle 63"/>
          <p:cNvSpPr/>
          <p:nvPr/>
        </p:nvSpPr>
        <p:spPr>
          <a:xfrm>
            <a:off x="7302558" y="46800"/>
            <a:ext cx="1223640" cy="333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>
                <a:solidFill>
                  <a:srgbClr val="FFFFFF"/>
                </a:solidFill>
                <a:latin typeface="Calibri"/>
              </a:rPr>
              <a:t>DNA</a:t>
            </a:r>
            <a:r>
              <a:rPr lang="en-US" sz="14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endParaRPr lang="en-US" sz="1400" b="0" strike="noStrike" spc="-1" dirty="0">
              <a:latin typeface="Arial" panose="020B0604020202090204"/>
            </a:endParaRPr>
          </a:p>
        </p:txBody>
      </p:sp>
      <p:sp>
        <p:nvSpPr>
          <p:cNvPr id="87" name="Rectangle 64"/>
          <p:cNvSpPr/>
          <p:nvPr/>
        </p:nvSpPr>
        <p:spPr>
          <a:xfrm>
            <a:off x="7302558" y="255600"/>
            <a:ext cx="1223640" cy="333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</a:rPr>
              <a:t>RNA</a:t>
            </a:r>
            <a:r>
              <a:rPr lang="en-US" sz="1400" b="0" strike="noStrike" spc="-1">
                <a:solidFill>
                  <a:srgbClr val="FFFFFF"/>
                </a:solidFill>
                <a:latin typeface="Calibri"/>
              </a:rPr>
              <a:t> </a:t>
            </a:r>
            <a:endParaRPr lang="en-US" sz="1400" b="0" strike="noStrike" spc="-1">
              <a:latin typeface="Arial" panose="020B0604020202090204"/>
            </a:endParaRPr>
          </a:p>
        </p:txBody>
      </p:sp>
      <p:sp>
        <p:nvSpPr>
          <p:cNvPr id="88" name="Straight Connector 65"/>
          <p:cNvSpPr/>
          <p:nvPr/>
        </p:nvSpPr>
        <p:spPr>
          <a:xfrm>
            <a:off x="7662198" y="324000"/>
            <a:ext cx="504000" cy="0"/>
          </a:xfrm>
          <a:prstGeom prst="line">
            <a:avLst/>
          </a:prstGeom>
          <a:ln>
            <a:solidFill>
              <a:srgbClr val="4A7EBB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9" name="Rectangle 67"/>
          <p:cNvSpPr/>
          <p:nvPr/>
        </p:nvSpPr>
        <p:spPr>
          <a:xfrm>
            <a:off x="8239389" y="54000"/>
            <a:ext cx="378360" cy="43416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635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8" name="Rectangle 71"/>
          <p:cNvSpPr/>
          <p:nvPr/>
        </p:nvSpPr>
        <p:spPr>
          <a:xfrm>
            <a:off x="53862" y="54000"/>
            <a:ext cx="1548000" cy="5756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6" name="Rectangle 72"/>
          <p:cNvSpPr/>
          <p:nvPr/>
        </p:nvSpPr>
        <p:spPr>
          <a:xfrm>
            <a:off x="54000" y="54000"/>
            <a:ext cx="431640" cy="576000"/>
          </a:xfrm>
          <a:prstGeom prst="rect">
            <a:avLst/>
          </a:prstGeom>
          <a:solidFill>
            <a:srgbClr val="0070C0"/>
          </a:solidFill>
          <a:ln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8" name="Rectangle 74"/>
          <p:cNvSpPr/>
          <p:nvPr/>
        </p:nvSpPr>
        <p:spPr>
          <a:xfrm>
            <a:off x="558720" y="29700"/>
            <a:ext cx="935640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 dirty="0" smtClean="0">
                <a:solidFill>
                  <a:srgbClr val="FFFFFF"/>
                </a:solidFill>
                <a:latin typeface="Calibri"/>
              </a:rPr>
              <a:t>MDT</a:t>
            </a:r>
            <a:endParaRPr lang="en-US" sz="1400" b="0" strike="noStrike" spc="-1" dirty="0">
              <a:latin typeface="Arial" panose="020B0604020202090204"/>
            </a:endParaRPr>
          </a:p>
        </p:txBody>
      </p:sp>
      <p:sp>
        <p:nvSpPr>
          <p:cNvPr id="126" name="Rectangle 53"/>
          <p:cNvSpPr/>
          <p:nvPr/>
        </p:nvSpPr>
        <p:spPr>
          <a:xfrm>
            <a:off x="1655724" y="54000"/>
            <a:ext cx="4968552" cy="57606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Rectangle 75"/>
          <p:cNvSpPr/>
          <p:nvPr/>
        </p:nvSpPr>
        <p:spPr>
          <a:xfrm>
            <a:off x="54042" y="676380"/>
            <a:ext cx="1547640" cy="423505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9" name="Rectangle 40"/>
          <p:cNvSpPr/>
          <p:nvPr/>
        </p:nvSpPr>
        <p:spPr>
          <a:xfrm>
            <a:off x="144145" y="771525"/>
            <a:ext cx="1367790" cy="841375"/>
          </a:xfrm>
          <a:prstGeom prst="rect">
            <a:avLst/>
          </a:prstGeom>
          <a:gradFill rotWithShape="0">
            <a:gsLst>
              <a:gs pos="0">
                <a:srgbClr val="D9D9D9"/>
              </a:gs>
              <a:gs pos="100000">
                <a:srgbClr val="A6A6A6"/>
              </a:gs>
            </a:gsLst>
            <a:lin ang="5400000"/>
          </a:gradFill>
          <a:ln>
            <a:solidFill>
              <a:srgbClr val="FFFFFF">
                <a:lumMod val="8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0" name="TextBox 41"/>
          <p:cNvSpPr/>
          <p:nvPr/>
        </p:nvSpPr>
        <p:spPr>
          <a:xfrm>
            <a:off x="75735" y="771623"/>
            <a:ext cx="679680" cy="24257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595959"/>
                </a:solidFill>
                <a:latin typeface="Calibri"/>
              </a:rPr>
              <a:t>Patient</a:t>
            </a:r>
            <a:endParaRPr lang="en-US" sz="1000" b="0" strike="noStrike" spc="-1">
              <a:latin typeface="Arial" panose="020B0604020202090204"/>
            </a:endParaRPr>
          </a:p>
        </p:txBody>
      </p:sp>
      <p:grpSp>
        <p:nvGrpSpPr>
          <p:cNvPr id="65" name="Gruppe 64"/>
          <p:cNvGrpSpPr/>
          <p:nvPr/>
        </p:nvGrpSpPr>
        <p:grpSpPr>
          <a:xfrm>
            <a:off x="178883" y="4141493"/>
            <a:ext cx="1386611" cy="631548"/>
            <a:chOff x="178883" y="4141493"/>
            <a:chExt cx="1386611" cy="631548"/>
          </a:xfrm>
        </p:grpSpPr>
        <p:pic>
          <p:nvPicPr>
            <p:cNvPr id="66" name="Bilde 65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5763"/>
            <a:stretch>
              <a:fillRect/>
            </a:stretch>
          </p:blipFill>
          <p:spPr>
            <a:xfrm>
              <a:off x="178883" y="4229919"/>
              <a:ext cx="576693" cy="543122"/>
            </a:xfrm>
            <a:prstGeom prst="rect">
              <a:avLst/>
            </a:prstGeom>
          </p:spPr>
        </p:pic>
        <p:sp>
          <p:nvSpPr>
            <p:cNvPr id="67" name="TekstSylinder 66"/>
            <p:cNvSpPr txBox="1"/>
            <p:nvPr/>
          </p:nvSpPr>
          <p:spPr>
            <a:xfrm>
              <a:off x="647284" y="4495960"/>
              <a:ext cx="918210" cy="2755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600" dirty="0">
                  <a:solidFill>
                    <a:srgbClr val="005495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Infrastructure for </a:t>
              </a:r>
              <a:endParaRPr lang="en-US" sz="600" dirty="0">
                <a:solidFill>
                  <a:srgbClr val="005495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algn="ctr"/>
              <a:r>
                <a:rPr lang="en-US" sz="600" dirty="0">
                  <a:solidFill>
                    <a:srgbClr val="005495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Precision Diagnostics</a:t>
              </a:r>
              <a:endParaRPr lang="nb-NO" sz="600" dirty="0">
                <a:solidFill>
                  <a:srgbClr val="005495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pic>
          <p:nvPicPr>
            <p:cNvPr id="68" name="Bilde 67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717" r="-3477"/>
            <a:stretch>
              <a:fillRect/>
            </a:stretch>
          </p:blipFill>
          <p:spPr>
            <a:xfrm>
              <a:off x="737258" y="4141493"/>
              <a:ext cx="792088" cy="543122"/>
            </a:xfrm>
            <a:prstGeom prst="rect">
              <a:avLst/>
            </a:prstGeom>
          </p:spPr>
        </p:pic>
      </p:grpSp>
      <p:sp>
        <p:nvSpPr>
          <p:cNvPr id="69" name="TextBox 41"/>
          <p:cNvSpPr/>
          <p:nvPr/>
        </p:nvSpPr>
        <p:spPr>
          <a:xfrm>
            <a:off x="56050" y="1044673"/>
            <a:ext cx="679680" cy="21145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00" spc="-1" dirty="0">
                <a:solidFill>
                  <a:srgbClr val="000000"/>
                </a:solidFill>
                <a:latin typeface="Calibri"/>
                <a:sym typeface="+mn-ea"/>
              </a:rPr>
              <a:t>Y of D: </a:t>
            </a:r>
            <a:endParaRPr lang="en-US" sz="800" b="0" strike="noStrike" spc="-1">
              <a:latin typeface="Arial" panose="020B0604020202090204"/>
            </a:endParaRPr>
          </a:p>
        </p:txBody>
      </p:sp>
      <p:sp>
        <p:nvSpPr>
          <p:cNvPr id="74" name="Rectangle 47"/>
          <p:cNvSpPr/>
          <p:nvPr/>
        </p:nvSpPr>
        <p:spPr>
          <a:xfrm>
            <a:off x="144042" y="1696398"/>
            <a:ext cx="1367640" cy="575640"/>
          </a:xfrm>
          <a:prstGeom prst="rect">
            <a:avLst/>
          </a:prstGeom>
          <a:gradFill rotWithShape="0">
            <a:gsLst>
              <a:gs pos="0">
                <a:srgbClr val="D9D9D9"/>
              </a:gs>
              <a:gs pos="100000">
                <a:srgbClr val="A6A6A6"/>
              </a:gs>
            </a:gsLst>
            <a:lin ang="5400000"/>
          </a:gradFill>
          <a:ln>
            <a:solidFill>
              <a:srgbClr val="FFFFFF">
                <a:lumMod val="8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5" name="TextBox 48"/>
          <p:cNvSpPr/>
          <p:nvPr/>
        </p:nvSpPr>
        <p:spPr>
          <a:xfrm>
            <a:off x="75565" y="1785793"/>
            <a:ext cx="651510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595959"/>
                </a:solidFill>
                <a:latin typeface="Calibri"/>
              </a:rPr>
              <a:t>Bio-material</a:t>
            </a:r>
            <a:endParaRPr lang="en-US" sz="1000" b="0" strike="noStrike" spc="-1">
              <a:latin typeface="Arial" panose="020B0604020202090204"/>
            </a:endParaRPr>
          </a:p>
        </p:txBody>
      </p:sp>
      <p:sp>
        <p:nvSpPr>
          <p:cNvPr id="76" name="Rectangle 49"/>
          <p:cNvSpPr/>
          <p:nvPr/>
        </p:nvSpPr>
        <p:spPr>
          <a:xfrm>
            <a:off x="144677" y="2374973"/>
            <a:ext cx="1367640" cy="395640"/>
          </a:xfrm>
          <a:prstGeom prst="rect">
            <a:avLst/>
          </a:prstGeom>
          <a:gradFill rotWithShape="0">
            <a:gsLst>
              <a:gs pos="0">
                <a:srgbClr val="D9D9D9"/>
              </a:gs>
              <a:gs pos="100000">
                <a:srgbClr val="A6A6A6"/>
              </a:gs>
            </a:gsLst>
            <a:lin ang="5400000"/>
          </a:gradFill>
          <a:ln>
            <a:solidFill>
              <a:srgbClr val="FFFFFF">
                <a:lumMod val="8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7" name="TextBox 50"/>
          <p:cNvSpPr/>
          <p:nvPr/>
        </p:nvSpPr>
        <p:spPr>
          <a:xfrm>
            <a:off x="76870" y="2375568"/>
            <a:ext cx="679680" cy="394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 dirty="0">
                <a:solidFill>
                  <a:srgbClr val="595959"/>
                </a:solidFill>
                <a:latin typeface="Calibri"/>
              </a:rPr>
              <a:t>Tumor content</a:t>
            </a:r>
            <a:endParaRPr lang="en-US" sz="1000" b="0" strike="noStrike" spc="-1" dirty="0">
              <a:latin typeface="Arial" panose="020B0604020202090204"/>
            </a:endParaRPr>
          </a:p>
        </p:txBody>
      </p:sp>
      <p:sp>
        <p:nvSpPr>
          <p:cNvPr id="93" name="TekstSylinder 92"/>
          <p:cNvSpPr txBox="1"/>
          <p:nvPr/>
        </p:nvSpPr>
        <p:spPr>
          <a:xfrm>
            <a:off x="7110000" y="4910400"/>
            <a:ext cx="202819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#</a:t>
            </a:r>
            <a:r>
              <a:rPr lang="en-US" sz="800" dirty="0" smtClean="0"/>
              <a:t> Variant </a:t>
            </a:r>
            <a:r>
              <a:rPr lang="en-US" sz="800" dirty="0"/>
              <a:t>of un</a:t>
            </a:r>
            <a:r>
              <a:rPr lang="nb-NO" altLang="en-US" sz="800" dirty="0"/>
              <a:t>certain</a:t>
            </a:r>
            <a:r>
              <a:rPr lang="en-US" sz="800" dirty="0"/>
              <a:t> significance (VUS)</a:t>
            </a:r>
            <a:endParaRPr lang="nb-NO" altLang="en-US" sz="800" i="1" dirty="0" smtClean="0">
              <a:sym typeface="+mn-ea"/>
            </a:endParaRPr>
          </a:p>
        </p:txBody>
      </p:sp>
      <p:sp>
        <p:nvSpPr>
          <p:cNvPr id="94" name="Rectangle 69"/>
          <p:cNvSpPr/>
          <p:nvPr/>
        </p:nvSpPr>
        <p:spPr>
          <a:xfrm>
            <a:off x="8226138" y="60425"/>
            <a:ext cx="1223640" cy="49098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 smtClean="0">
                <a:solidFill>
                  <a:schemeClr val="bg1"/>
                </a:solidFill>
                <a:latin typeface="Calibri"/>
              </a:rPr>
              <a:t>MDT</a:t>
            </a:r>
            <a:endParaRPr lang="en-US" sz="1600" b="0" strike="noStrike" spc="-1" dirty="0">
              <a:solidFill>
                <a:schemeClr val="bg1"/>
              </a:solidFill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 dirty="0">
                <a:solidFill>
                  <a:schemeClr val="bg1"/>
                </a:solidFill>
                <a:latin typeface="Calibri"/>
              </a:rPr>
              <a:t>Report </a:t>
            </a:r>
            <a:endParaRPr lang="en-US" sz="1000" b="0" strike="noStrike" spc="-1" dirty="0">
              <a:solidFill>
                <a:schemeClr val="bg1"/>
              </a:solidFill>
              <a:latin typeface="Arial" panose="020B0604020202090204"/>
            </a:endParaRPr>
          </a:p>
        </p:txBody>
      </p:sp>
      <p:sp>
        <p:nvSpPr>
          <p:cNvPr id="3" name="Rectangle 94"/>
          <p:cNvSpPr/>
          <p:nvPr/>
        </p:nvSpPr>
        <p:spPr>
          <a:xfrm>
            <a:off x="19645" y="4880472"/>
            <a:ext cx="1743938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00" dirty="0" smtClean="0">
                <a:solidFill>
                  <a:schemeClr val="tx1"/>
                </a:solidFill>
              </a:rPr>
              <a:t>VAF=variant allele fraction , </a:t>
            </a:r>
            <a:endParaRPr lang="en-US" sz="600" dirty="0" smtClean="0">
              <a:solidFill>
                <a:schemeClr val="tx1"/>
              </a:solidFill>
            </a:endParaRPr>
          </a:p>
          <a:p>
            <a:r>
              <a:rPr lang="en-US" sz="600" dirty="0" smtClean="0">
                <a:solidFill>
                  <a:schemeClr val="tx1"/>
                </a:solidFill>
              </a:rPr>
              <a:t>CN=copy number </a:t>
            </a:r>
            <a:r>
              <a:rPr lang="en-US" sz="600" dirty="0" smtClean="0">
                <a:solidFill>
                  <a:schemeClr val="tx1"/>
                </a:solidFill>
                <a:sym typeface="+mn-ea"/>
              </a:rPr>
              <a:t>(assumes  ploidy 2).</a:t>
            </a:r>
            <a:r>
              <a:rPr lang="en-US" sz="600" dirty="0" smtClean="0">
                <a:solidFill>
                  <a:srgbClr val="FF0000"/>
                </a:solidFill>
                <a:sym typeface="+mn-ea"/>
              </a:rPr>
              <a:t> </a:t>
            </a:r>
            <a:r>
              <a:rPr lang="en-US" sz="600" dirty="0" smtClean="0">
                <a:solidFill>
                  <a:schemeClr val="tx1"/>
                </a:solidFill>
              </a:rPr>
              <a:t> </a:t>
            </a:r>
            <a:endParaRPr lang="en-US" sz="600" dirty="0" smtClean="0">
              <a:solidFill>
                <a:schemeClr val="tx1"/>
              </a:solidFill>
            </a:endParaRPr>
          </a:p>
        </p:txBody>
      </p:sp>
      <p:grpSp>
        <p:nvGrpSpPr>
          <p:cNvPr id="52" name="Gruppe 41"/>
          <p:cNvGrpSpPr/>
          <p:nvPr/>
        </p:nvGrpSpPr>
        <p:grpSpPr>
          <a:xfrm>
            <a:off x="196462" y="1299222"/>
            <a:ext cx="146716" cy="214722"/>
            <a:chOff x="171000" y="979920"/>
            <a:chExt cx="182160" cy="263520"/>
          </a:xfrm>
        </p:grpSpPr>
        <p:sp>
          <p:nvSpPr>
            <p:cNvPr id="53" name="Ellipse 42"/>
            <p:cNvSpPr/>
            <p:nvPr/>
          </p:nvSpPr>
          <p:spPr>
            <a:xfrm>
              <a:off x="209520" y="1195920"/>
              <a:ext cx="106200" cy="47520"/>
            </a:xfrm>
            <a:prstGeom prst="ellipse">
              <a:avLst/>
            </a:prstGeom>
            <a:gradFill rotWithShape="0">
              <a:gsLst>
                <a:gs pos="0">
                  <a:srgbClr val="8EB4E3"/>
                </a:gs>
                <a:gs pos="100000">
                  <a:srgbClr val="0070C0"/>
                </a:gs>
              </a:gsLst>
              <a:lin ang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4" name="Tåre 43"/>
            <p:cNvSpPr/>
            <p:nvPr/>
          </p:nvSpPr>
          <p:spPr>
            <a:xfrm rot="8045400">
              <a:off x="189000" y="1018080"/>
              <a:ext cx="135360" cy="136800"/>
            </a:xfrm>
            <a:prstGeom prst="teardrop">
              <a:avLst>
                <a:gd name="adj" fmla="val 143023"/>
              </a:avLst>
            </a:prstGeom>
            <a:gradFill rotWithShape="0">
              <a:gsLst>
                <a:gs pos="0">
                  <a:srgbClr val="17375E"/>
                </a:gs>
                <a:gs pos="100000">
                  <a:srgbClr val="C6D9F1"/>
                </a:gs>
              </a:gsLst>
              <a:path path="rect">
                <a:fillToRect l="100000" t="100000"/>
              </a:path>
            </a:gradFill>
            <a:ln w="6350">
              <a:solidFill>
                <a:srgbClr val="FFFFFF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5" name="Ellipse 44"/>
            <p:cNvSpPr/>
            <p:nvPr/>
          </p:nvSpPr>
          <p:spPr>
            <a:xfrm>
              <a:off x="227880" y="1067040"/>
              <a:ext cx="52920" cy="54360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33" name="TextBox 132"/>
          <p:cNvSpPr txBox="1"/>
          <p:nvPr/>
        </p:nvSpPr>
        <p:spPr>
          <a:xfrm>
            <a:off x="54864" y="54864"/>
            <a:ext cx="42976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AFAFA"/>
                </a:solidFill>
              </a:defRPr>
            </a:pPr>
            <a:r>
              <a:t>XX</a:t>
            </a:r>
            <a:br/>
            <a:r>
              <a:t>XXX</a:t>
            </a:r>
            <a:br/>
            <a:r>
              <a:t>2026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429000" y="100584"/>
            <a:ext cx="1216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AFAFA"/>
                </a:solidFill>
              </a:defRPr>
            </a:pPr>
            <a:r>
              <a:t>IPD2225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20456" y="18288"/>
            <a:ext cx="411480" cy="50292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 algn="ctr">
              <a:defRPr sz="900">
                <a:solidFill>
                  <a:srgbClr val="FAFAFA"/>
                </a:solidFill>
              </a:defRPr>
            </a:pPr>
            <a:r>
              <a:t>18</a:t>
            </a:r>
            <a:br/>
            <a:r>
              <a:t>MAY</a:t>
            </a:r>
            <a:br/>
            <a:r>
              <a:t>2026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611112" y="475488"/>
            <a:ext cx="2313432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04040"/>
                </a:solidFill>
              </a:defRPr>
            </a:pPr>
            <a:r>
              <a:t>Version string: 2.2.0.12/0.3.2:22-06-07/1.0.0/1.0.0/hg19/TR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57200" y="1344168"/>
            <a:ext cx="7863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AFAFA"/>
                </a:solidFill>
              </a:defRPr>
            </a:pPr>
            <a:r>
              <a:t>OUS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49224" y="1682496"/>
            <a:ext cx="78638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Primary tumor</a:t>
            </a:r>
            <a:br/>
            <a:r>
              <a:t> naive</a:t>
            </a:r>
            <a:br/>
            <a:r>
              <a:t>Archived FFPE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40664" y="2423160"/>
            <a:ext cx="576072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~50%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276088" y="173736"/>
            <a:ext cx="786384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FAFAFA"/>
                </a:solidFill>
              </a:defRPr>
            </a:pPr>
            <a:r>
              <a:t>CNS/Brain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77240" y="1024128"/>
            <a:ext cx="438912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/>
            </a:pPr>
            <a:r>
              <a:t>-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57784" y="320040"/>
            <a:ext cx="932688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AFAFA"/>
                </a:solidFill>
              </a:defRPr>
            </a:pPr>
            <a:r>
              <a:t>OUS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30936" y="722376"/>
            <a:ext cx="79552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M/66y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67512" y="2057400"/>
            <a:ext cx="640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"/>
            </a:pPr>
            <a:r>
              <a:t>DNA:25materialX</a:t>
            </a:r>
            <a:br/>
            <a:r>
              <a:t>RNA:25materialX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920240" y="100584"/>
            <a:ext cx="97840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FAFAFA"/>
                </a:solidFill>
              </a:defRPr>
            </a:pPr>
            <a:r>
              <a:t>Trial ID</a:t>
            </a:r>
            <a:br/>
            <a:r>
              <a:t>MRARE-X-xxxx</a:t>
            </a:r>
          </a:p>
        </p:txBody>
      </p:sp>
      <p:graphicFrame>
        <p:nvGraphicFramePr>
          <p:cNvPr id="146" name="Table 145"/>
          <p:cNvGraphicFramePr>
            <a:graphicFrameLocks noGrp="1"/>
          </p:cNvGraphicFramePr>
          <p:nvPr/>
        </p:nvGraphicFramePr>
        <p:xfrm>
          <a:off x="6611112" y="969264"/>
          <a:ext cx="2523744" cy="1490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0936"/>
                <a:gridCol w="630936"/>
                <a:gridCol w="630936"/>
                <a:gridCol w="630936"/>
              </a:tblGrid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Gene_symbol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Protein_change_short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Coding_status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AF_tumor_DNA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TP53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G245D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0.20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R445X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stop_gained,splice_region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0.18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T319X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frameshift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0.06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MSH2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N596del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inframe_deletion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0.56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LZTR1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W469X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stop_gained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0.61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HNF1A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P289fs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frameshift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0.05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S146X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frameshift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0.14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ARID1B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R1845C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0.02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V2115I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0.17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AXIN1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A441T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0.11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BCORL1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R1299Q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0.02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FAT1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S4566R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0.17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FAT1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V1577I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0.05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GNAS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G414R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0.05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PRDM1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A379T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0.17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G36R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0.05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LATS2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I993T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0.60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NOTCH1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R1663W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0.36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NOTCH3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A399T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missense,splice_region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0.21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DNMT3A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Q356X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stop_gained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0.04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SETD2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R70X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stop_gained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0.20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MEF2B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T274fs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frameshift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0.20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CD276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R111H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0.22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ERCC1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V126I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0.17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FGF8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T133M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0.05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NUP93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P656L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0.19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PRKDC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A1947T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0.20</a:t>
                      </a:r>
                    </a:p>
                  </a:txBody>
                  <a:tcPr/>
                </a:tc>
              </a:tr>
              <a:tr h="51412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GEN1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N154D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0.40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7" name="TextBox 146"/>
          <p:cNvSpPr txBox="1"/>
          <p:nvPr/>
        </p:nvSpPr>
        <p:spPr>
          <a:xfrm>
            <a:off x="6729984" y="749808"/>
            <a:ext cx="2331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/>
            </a:pPr>
            <a:r>
              <a:t>Variants that alter protein coding sequence 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266944" y="1463040"/>
            <a:ext cx="374904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MS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702400" y="1504800"/>
            <a:ext cx="813599" cy="23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/>
            </a:pPr>
            <a:r>
              <a:t>Stable</a:t>
            </a:r>
            <a:br/>
            <a:r>
              <a:t>5 unstable out of 121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346704" y="1161288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/>
            </a:pPr>
            <a:r>
              <a:t>28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346704" y="1042415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/>
            </a:pPr>
            <a:r>
              <a:t>34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346704" y="932688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/>
            </a:pPr>
            <a:r>
              <a:t>42</a:t>
            </a:r>
          </a:p>
        </p:txBody>
      </p:sp>
      <p:sp>
        <p:nvSpPr>
          <p:cNvPr id="153" name="Oval 152"/>
          <p:cNvSpPr/>
          <p:nvPr/>
        </p:nvSpPr>
        <p:spPr>
          <a:xfrm>
            <a:off x="2977200" y="1404000"/>
            <a:ext cx="208800" cy="208800"/>
          </a:xfrm>
          <a:prstGeom prst="ellipse">
            <a:avLst/>
          </a:prstGeom>
          <a:ln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2962800" y="1404000"/>
            <a:ext cx="2088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FAFAFA"/>
                </a:solidFill>
              </a:defRPr>
            </a:pPr>
            <a:r>
              <a:t>15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696712" y="969264"/>
            <a:ext cx="8869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/>
            </a:pPr>
            <a:r>
              <a:t>splicing: None reported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696712" y="1152144"/>
            <a:ext cx="8869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/>
            </a:pPr>
            <a:r>
              <a:t>fusion: None reported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513832" y="1956816"/>
            <a:ext cx="5394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/>
            </a:pPr>
            <a:r>
              <a:t>23/1.27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5687568" y="2093976"/>
            <a:ext cx="8046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/>
            </a:pPr>
            <a:r>
              <a:t>TMB = 14.9 (19)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3"/>
          <p:cNvSpPr/>
          <p:nvPr/>
        </p:nvSpPr>
        <p:spPr>
          <a:xfrm>
            <a:off x="1645564" y="48920"/>
            <a:ext cx="4968552" cy="576064"/>
          </a:xfrm>
          <a:prstGeom prst="rect">
            <a:avLst/>
          </a:prstGeom>
          <a:solidFill>
            <a:srgbClr val="0070C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Rectangle 45"/>
          <p:cNvSpPr/>
          <p:nvPr/>
        </p:nvSpPr>
        <p:spPr>
          <a:xfrm>
            <a:off x="1684706" y="711221"/>
            <a:ext cx="224454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 smtClean="0"/>
              <a:t>SUMMARY OF KEY FINDINGS </a:t>
            </a:r>
            <a:endParaRPr lang="en-US" sz="1100" b="1" dirty="0"/>
          </a:p>
        </p:txBody>
      </p:sp>
      <p:graphicFrame>
        <p:nvGraphicFramePr>
          <p:cNvPr id="79" name="Table 4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691680" y="987573"/>
          <a:ext cx="4851641" cy="320040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371118"/>
                <a:gridCol w="1261802"/>
                <a:gridCol w="324000"/>
                <a:gridCol w="707376"/>
                <a:gridCol w="851320"/>
                <a:gridCol w="519566"/>
                <a:gridCol w="816459"/>
              </a:tblGrid>
              <a:tr h="31203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b-NO" sz="700" b="1" dirty="0" smtClean="0"/>
                        <a:t>SNVs/</a:t>
                      </a:r>
                      <a:endParaRPr lang="nb-NO" sz="700" b="1" dirty="0" smtClean="0"/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b-NO" sz="700" b="1" dirty="0" smtClean="0"/>
                        <a:t>indels</a:t>
                      </a:r>
                      <a:endParaRPr lang="en-US" sz="700" b="1" dirty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i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Total nr</a:t>
                      </a:r>
                      <a:r>
                        <a:rPr lang="en-US" sz="700" i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of SNVs/indels</a:t>
                      </a:r>
                      <a:endParaRPr lang="en-US" sz="700" i="1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 protein coding sequence</a:t>
                      </a:r>
                      <a:endParaRPr lang="en-US" sz="700" b="1" i="0" baseline="0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+mn-lt"/>
                        <a:ea typeface="+mn-ea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1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alter protein coding sequence</a:t>
                      </a:r>
                      <a:endParaRPr lang="en-US" sz="600" dirty="0" smtClean="0">
                        <a:solidFill>
                          <a:schemeClr val="tx1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dirty="0" smtClean="0">
                        <a:solidFill>
                          <a:schemeClr val="tx1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dirty="0" smtClean="0">
                        <a:solidFill>
                          <a:schemeClr val="tx1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1" dirty="0" smtClean="0">
                        <a:solidFill>
                          <a:schemeClr val="tx1"/>
                        </a:solidFill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 smtClean="0"/>
                        <a:t>Copy number variants</a:t>
                      </a:r>
                      <a:endParaRPr lang="en-US" sz="700" b="1" dirty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latin typeface="+mn-lt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 smtClean="0">
                          <a:latin typeface="+mn-lt"/>
                          <a:ea typeface="Times New Roman" panose="02020503050405090304"/>
                        </a:rPr>
                        <a:t>Gene</a:t>
                      </a:r>
                      <a:r>
                        <a:rPr lang="en-US" sz="700" b="1" baseline="0" dirty="0" smtClean="0">
                          <a:latin typeface="+mn-lt"/>
                          <a:ea typeface="Times New Roman" panose="02020503050405090304"/>
                        </a:rPr>
                        <a:t> fusions</a:t>
                      </a:r>
                      <a:endParaRPr lang="en-US" sz="700" b="1" baseline="0" dirty="0" smtClean="0">
                        <a:latin typeface="+mn-lt"/>
                        <a:ea typeface="Times New Roman" panose="02020503050405090304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baseline="0" dirty="0" smtClean="0">
                          <a:latin typeface="+mn-lt"/>
                          <a:ea typeface="Times New Roman" panose="02020503050405090304"/>
                        </a:rPr>
                        <a:t> </a:t>
                      </a:r>
                      <a:r>
                        <a:rPr lang="en-US" sz="7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Times New Roman" panose="02020503050405090304"/>
                        </a:rPr>
                        <a:t>RNA</a:t>
                      </a:r>
                      <a:endParaRPr lang="en-US" sz="7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latin typeface="+mn-lt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0" name="Table 49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691679" y="1462405"/>
          <a:ext cx="4845201" cy="365760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563084"/>
                <a:gridCol w="2942959"/>
                <a:gridCol w="520358"/>
                <a:gridCol w="818800"/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b-NO" sz="1000" b="0" dirty="0" smtClean="0"/>
                        <a:t>TMB</a:t>
                      </a:r>
                      <a:endParaRPr lang="en-US" sz="1000" b="0" dirty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600" dirty="0" smtClean="0">
                        <a:latin typeface="Times New Roman" panose="02020503050405090304"/>
                        <a:ea typeface="Times New Roman" panose="02020503050405090304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600" dirty="0" smtClean="0">
                        <a:latin typeface="Times New Roman" panose="02020503050405090304"/>
                        <a:ea typeface="Times New Roman" panose="02020503050405090304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600" dirty="0" smtClean="0">
                        <a:latin typeface="Times New Roman" panose="02020503050405090304"/>
                        <a:ea typeface="Times New Roman" panose="02020503050405090304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600" dirty="0" smtClean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nb-NO" sz="1100" b="0" dirty="0" smtClean="0">
                        <a:latin typeface="+mn-lt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nb-NO" sz="800" b="0" dirty="0" smtClean="0">
                          <a:latin typeface="+mn-lt"/>
                          <a:ea typeface="+mn-ea"/>
                        </a:rPr>
                        <a:t>status</a:t>
                      </a:r>
                      <a:endParaRPr lang="en-US" sz="800" b="0" dirty="0" smtClean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83" name="Straight Connector 85"/>
          <p:cNvCxnSpPr/>
          <p:nvPr/>
        </p:nvCxnSpPr>
        <p:spPr>
          <a:xfrm>
            <a:off x="1763688" y="1853532"/>
            <a:ext cx="46805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50"/>
          <p:cNvSpPr/>
          <p:nvPr/>
        </p:nvSpPr>
        <p:spPr>
          <a:xfrm>
            <a:off x="2483768" y="1544201"/>
            <a:ext cx="2520280" cy="72008"/>
          </a:xfrm>
          <a:prstGeom prst="rect">
            <a:avLst/>
          </a:prstGeom>
          <a:gradFill flip="none" rotWithShape="1">
            <a:gsLst>
              <a:gs pos="0">
                <a:srgbClr val="0070C0"/>
              </a:gs>
              <a:gs pos="7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5" name="Straight Connector 53"/>
          <p:cNvCxnSpPr/>
          <p:nvPr/>
        </p:nvCxnSpPr>
        <p:spPr>
          <a:xfrm>
            <a:off x="3347864" y="1544201"/>
            <a:ext cx="0" cy="7200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54"/>
          <p:cNvSpPr txBox="1"/>
          <p:nvPr/>
        </p:nvSpPr>
        <p:spPr>
          <a:xfrm>
            <a:off x="2457568" y="1573456"/>
            <a:ext cx="34825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i="1" dirty="0" smtClean="0"/>
              <a:t>Low</a:t>
            </a:r>
            <a:endParaRPr lang="en-US" sz="600" i="1" dirty="0"/>
          </a:p>
        </p:txBody>
      </p:sp>
      <p:sp>
        <p:nvSpPr>
          <p:cNvPr id="91" name="TextBox 55"/>
          <p:cNvSpPr txBox="1"/>
          <p:nvPr/>
        </p:nvSpPr>
        <p:spPr>
          <a:xfrm>
            <a:off x="2755081" y="1575266"/>
            <a:ext cx="64807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i="1" dirty="0" smtClean="0"/>
              <a:t>Intermediate</a:t>
            </a:r>
            <a:endParaRPr lang="en-US" sz="600" i="1" dirty="0"/>
          </a:p>
        </p:txBody>
      </p:sp>
      <p:sp>
        <p:nvSpPr>
          <p:cNvPr id="92" name="TextBox 56"/>
          <p:cNvSpPr txBox="1"/>
          <p:nvPr/>
        </p:nvSpPr>
        <p:spPr>
          <a:xfrm>
            <a:off x="3491880" y="1573972"/>
            <a:ext cx="64807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i="1" dirty="0" smtClean="0"/>
              <a:t>High</a:t>
            </a:r>
            <a:endParaRPr lang="en-US" sz="600" i="1" dirty="0"/>
          </a:p>
        </p:txBody>
      </p:sp>
      <p:sp>
        <p:nvSpPr>
          <p:cNvPr id="116" name="TextBox 60"/>
          <p:cNvSpPr txBox="1"/>
          <p:nvPr/>
        </p:nvSpPr>
        <p:spPr>
          <a:xfrm>
            <a:off x="2669510" y="1605037"/>
            <a:ext cx="2338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i="1" dirty="0" smtClean="0"/>
              <a:t>5</a:t>
            </a:r>
            <a:endParaRPr lang="en-US" sz="600" b="1" i="1" dirty="0"/>
          </a:p>
        </p:txBody>
      </p:sp>
      <p:sp>
        <p:nvSpPr>
          <p:cNvPr id="122" name="TextBox 61"/>
          <p:cNvSpPr txBox="1"/>
          <p:nvPr/>
        </p:nvSpPr>
        <p:spPr>
          <a:xfrm>
            <a:off x="3207296" y="1612835"/>
            <a:ext cx="28458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i="1" dirty="0" smtClean="0"/>
              <a:t>20</a:t>
            </a:r>
            <a:endParaRPr lang="en-US" sz="600" b="1" i="1" dirty="0"/>
          </a:p>
        </p:txBody>
      </p:sp>
      <p:sp>
        <p:nvSpPr>
          <p:cNvPr id="131" name="Rectangle 80"/>
          <p:cNvSpPr/>
          <p:nvPr/>
        </p:nvSpPr>
        <p:spPr>
          <a:xfrm>
            <a:off x="3975800" y="1623394"/>
            <a:ext cx="1188146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00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Potentially overestimated TMB*</a:t>
            </a:r>
            <a:endParaRPr lang="en-US" sz="600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2" name="TextBox 81"/>
          <p:cNvSpPr txBox="1"/>
          <p:nvPr/>
        </p:nvSpPr>
        <p:spPr>
          <a:xfrm>
            <a:off x="3901951" y="1571012"/>
            <a:ext cx="1440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rgbClr val="FFC000"/>
                </a:solidFill>
              </a:rPr>
              <a:t>o</a:t>
            </a:r>
            <a:endParaRPr lang="en-US" sz="1100" dirty="0">
              <a:solidFill>
                <a:srgbClr val="FFC000"/>
              </a:solidFill>
            </a:endParaRPr>
          </a:p>
        </p:txBody>
      </p:sp>
      <p:sp>
        <p:nvSpPr>
          <p:cNvPr id="103" name="TextBox 54"/>
          <p:cNvSpPr txBox="1"/>
          <p:nvPr/>
        </p:nvSpPr>
        <p:spPr>
          <a:xfrm>
            <a:off x="2197995" y="1473248"/>
            <a:ext cx="348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 err="1" smtClean="0"/>
              <a:t>Mut</a:t>
            </a:r>
            <a:r>
              <a:rPr lang="en-US" sz="600" dirty="0" smtClean="0"/>
              <a:t>/Mb</a:t>
            </a:r>
            <a:endParaRPr lang="en-US" sz="600" dirty="0"/>
          </a:p>
        </p:txBody>
      </p:sp>
      <p:cxnSp>
        <p:nvCxnSpPr>
          <p:cNvPr id="86" name="Straight Connector 53"/>
          <p:cNvCxnSpPr/>
          <p:nvPr/>
        </p:nvCxnSpPr>
        <p:spPr>
          <a:xfrm>
            <a:off x="2771800" y="1544201"/>
            <a:ext cx="0" cy="7200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85"/>
          <p:cNvCxnSpPr/>
          <p:nvPr/>
        </p:nvCxnSpPr>
        <p:spPr>
          <a:xfrm>
            <a:off x="1763688" y="1853532"/>
            <a:ext cx="46805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Rectangle 63"/>
          <p:cNvSpPr/>
          <p:nvPr/>
        </p:nvSpPr>
        <p:spPr>
          <a:xfrm>
            <a:off x="1677954" y="1851670"/>
            <a:ext cx="3298079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 smtClean="0"/>
              <a:t>Biomarkers</a:t>
            </a:r>
            <a:endParaRPr lang="en-US" sz="1100" b="1" dirty="0"/>
          </a:p>
        </p:txBody>
      </p:sp>
      <p:graphicFrame>
        <p:nvGraphicFramePr>
          <p:cNvPr id="108" name="Table 124"/>
          <p:cNvGraphicFramePr>
            <a:graphicFrameLocks noGrp="1"/>
          </p:cNvGraphicFramePr>
          <p:nvPr/>
        </p:nvGraphicFramePr>
        <p:xfrm>
          <a:off x="1685240" y="2139702"/>
          <a:ext cx="4964553" cy="892409"/>
        </p:xfrm>
        <a:graphic>
          <a:graphicData uri="http://schemas.openxmlformats.org/drawingml/2006/table">
            <a:tbl>
              <a:tblPr/>
              <a:tblGrid>
                <a:gridCol w="449508"/>
                <a:gridCol w="541524"/>
                <a:gridCol w="93980"/>
                <a:gridCol w="486049"/>
                <a:gridCol w="432858"/>
                <a:gridCol w="449508"/>
                <a:gridCol w="587816"/>
                <a:gridCol w="539011"/>
                <a:gridCol w="518661"/>
                <a:gridCol w="465641"/>
                <a:gridCol w="399997"/>
              </a:tblGrid>
              <a:tr h="141849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Gene</a:t>
                      </a: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Variant</a:t>
                      </a: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Type</a:t>
                      </a: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  <a:tc rowSpan="2" hMerge="1">
                  <a:tcPr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VAF</a:t>
                      </a:r>
                      <a:r>
                        <a:rPr lang="en-US" sz="7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/</a:t>
                      </a:r>
                      <a:endParaRPr lang="en-US" sz="700" b="1" dirty="0" smtClean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CN </a:t>
                      </a: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Variant</a:t>
                      </a: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GoF/</a:t>
                      </a:r>
                      <a:endParaRPr lang="en-US" sz="700" b="1" dirty="0" smtClean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LoF</a:t>
                      </a: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Pathway</a:t>
                      </a:r>
                      <a:r>
                        <a:rPr lang="en-US" sz="7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/</a:t>
                      </a:r>
                      <a:endParaRPr lang="en-US" sz="700" b="1" dirty="0" smtClean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function</a:t>
                      </a: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Therapeutic context</a:t>
                      </a: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0FA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Level of Evidence</a:t>
                      </a: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0FA"/>
                    </a:solidFill>
                  </a:tcPr>
                </a:tc>
                <a:tc hMerge="1">
                  <a:tcPr/>
                </a:tc>
              </a:tr>
              <a:tr h="310548">
                <a:tc vMerge="1">
                  <a:tcPr/>
                </a:tc>
                <a:tc vMerge="1">
                  <a:tcPr/>
                </a:tc>
                <a:tc vMerge="1" gridSpan="2">
                  <a:tcPr/>
                </a:tc>
                <a:tc vMerge="1" h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45770" algn="l"/>
                        </a:tabLst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Sensitive</a:t>
                      </a: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Resistant</a:t>
                      </a: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Patient’s </a:t>
                      </a: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tumor type</a:t>
                      </a: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Other tumor type</a:t>
                      </a: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</a:tr>
              <a:tr h="21952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--</a:t>
                      </a: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 smtClean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0994">
                <a:tc gridSpan="3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i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Variant classification </a:t>
                      </a:r>
                      <a:endParaRPr lang="en-US" sz="800" i="1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8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i="1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12" name="Table 114"/>
          <p:cNvGraphicFramePr>
            <a:graphicFrameLocks noGrp="1"/>
          </p:cNvGraphicFramePr>
          <p:nvPr/>
        </p:nvGraphicFramePr>
        <p:xfrm>
          <a:off x="1727900" y="3521053"/>
          <a:ext cx="4802541" cy="384985"/>
        </p:xfrm>
        <a:graphic>
          <a:graphicData uri="http://schemas.openxmlformats.org/drawingml/2006/table">
            <a:tbl>
              <a:tblPr/>
              <a:tblGrid>
                <a:gridCol w="452493"/>
                <a:gridCol w="556076"/>
                <a:gridCol w="626778"/>
                <a:gridCol w="3167194"/>
              </a:tblGrid>
              <a:tr h="1850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Gene</a:t>
                      </a:r>
                      <a:endParaRPr lang="en-US" sz="11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Variant</a:t>
                      </a:r>
                      <a:endParaRPr lang="en-US" sz="11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baseline="0" dirty="0" err="1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GoF</a:t>
                      </a:r>
                      <a:r>
                        <a:rPr lang="en-US" sz="800" b="1" baseline="0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/</a:t>
                      </a:r>
                      <a:r>
                        <a:rPr lang="en-US" sz="800" b="1" baseline="0" dirty="0" err="1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LoF</a:t>
                      </a:r>
                      <a:endParaRPr lang="en-US" sz="11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Comments</a:t>
                      </a:r>
                      <a:endParaRPr lang="en-US" sz="800" b="1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9996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 smtClean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 panose="02020503050405090304"/>
                        </a:rPr>
                        <a:t>XXXX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+mn-lt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00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 panose="02020503050405090304"/>
                        </a:rPr>
                        <a:t>xxx</a:t>
                      </a:r>
                      <a:endParaRPr lang="en-US" sz="800" dirty="0" smtClean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aseline="0" dirty="0" err="1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LoF</a:t>
                      </a:r>
                      <a:r>
                        <a:rPr lang="en-US" sz="800" baseline="0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/</a:t>
                      </a:r>
                      <a:r>
                        <a:rPr lang="en-US" sz="800" baseline="0" dirty="0" err="1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GoF</a:t>
                      </a:r>
                      <a:endParaRPr lang="en-US" sz="800" baseline="0" dirty="0" smtClean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nb-NO" sz="80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3" name="Rectangle 113"/>
          <p:cNvSpPr/>
          <p:nvPr/>
        </p:nvSpPr>
        <p:spPr>
          <a:xfrm>
            <a:off x="1685239" y="3335322"/>
            <a:ext cx="459698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b="1" dirty="0" smtClean="0"/>
              <a:t>Additional results: Variants of potential relevance</a:t>
            </a:r>
            <a:endParaRPr lang="en-US" sz="900" b="1" dirty="0"/>
          </a:p>
        </p:txBody>
      </p:sp>
      <p:sp>
        <p:nvSpPr>
          <p:cNvPr id="71" name="Rectangle 54"/>
          <p:cNvSpPr/>
          <p:nvPr/>
        </p:nvSpPr>
        <p:spPr>
          <a:xfrm>
            <a:off x="6678138" y="54000"/>
            <a:ext cx="2412000" cy="5756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1" name="Rectangle 62"/>
          <p:cNvSpPr/>
          <p:nvPr/>
        </p:nvSpPr>
        <p:spPr>
          <a:xfrm>
            <a:off x="6580509" y="115200"/>
            <a:ext cx="1223640" cy="395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 dirty="0">
                <a:solidFill>
                  <a:srgbClr val="FFFFFF"/>
                </a:solidFill>
                <a:latin typeface="Calibri"/>
              </a:rPr>
              <a:t>TSO500</a:t>
            </a:r>
            <a:r>
              <a:rPr lang="en-US" sz="14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endParaRPr lang="en-US" sz="1400" b="0" strike="noStrike" spc="-1" dirty="0">
              <a:latin typeface="Arial" panose="020B0604020202090204"/>
            </a:endParaRPr>
          </a:p>
        </p:txBody>
      </p:sp>
      <p:sp>
        <p:nvSpPr>
          <p:cNvPr id="82" name="Rectangle 63"/>
          <p:cNvSpPr/>
          <p:nvPr/>
        </p:nvSpPr>
        <p:spPr>
          <a:xfrm>
            <a:off x="7302558" y="46800"/>
            <a:ext cx="1223640" cy="333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>
                <a:solidFill>
                  <a:srgbClr val="FFFFFF"/>
                </a:solidFill>
                <a:latin typeface="Calibri"/>
              </a:rPr>
              <a:t>DNA</a:t>
            </a:r>
            <a:r>
              <a:rPr lang="en-US" sz="14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endParaRPr lang="en-US" sz="1400" b="0" strike="noStrike" spc="-1" dirty="0">
              <a:latin typeface="Arial" panose="020B0604020202090204"/>
            </a:endParaRPr>
          </a:p>
        </p:txBody>
      </p:sp>
      <p:sp>
        <p:nvSpPr>
          <p:cNvPr id="87" name="Rectangle 64"/>
          <p:cNvSpPr/>
          <p:nvPr/>
        </p:nvSpPr>
        <p:spPr>
          <a:xfrm>
            <a:off x="7302558" y="255600"/>
            <a:ext cx="1223640" cy="333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>
                <a:solidFill>
                  <a:srgbClr val="FFFFFF"/>
                </a:solidFill>
                <a:latin typeface="Calibri"/>
              </a:rPr>
              <a:t>RNA</a:t>
            </a:r>
            <a:r>
              <a:rPr lang="en-US" sz="1400" b="0" strike="noStrike" spc="-1">
                <a:solidFill>
                  <a:srgbClr val="FFFFFF"/>
                </a:solidFill>
                <a:latin typeface="Calibri"/>
              </a:rPr>
              <a:t> </a:t>
            </a:r>
            <a:endParaRPr lang="en-US" sz="1400" b="0" strike="noStrike" spc="-1">
              <a:latin typeface="Arial" panose="020B0604020202090204"/>
            </a:endParaRPr>
          </a:p>
        </p:txBody>
      </p:sp>
      <p:sp>
        <p:nvSpPr>
          <p:cNvPr id="88" name="Straight Connector 65"/>
          <p:cNvSpPr/>
          <p:nvPr/>
        </p:nvSpPr>
        <p:spPr>
          <a:xfrm>
            <a:off x="7662198" y="324000"/>
            <a:ext cx="504000" cy="0"/>
          </a:xfrm>
          <a:prstGeom prst="line">
            <a:avLst/>
          </a:prstGeom>
          <a:ln>
            <a:solidFill>
              <a:srgbClr val="4A7EBB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9" name="Rectangle 67"/>
          <p:cNvSpPr/>
          <p:nvPr/>
        </p:nvSpPr>
        <p:spPr>
          <a:xfrm>
            <a:off x="8239389" y="54000"/>
            <a:ext cx="378360" cy="43416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635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8" name="Rectangle 71"/>
          <p:cNvSpPr/>
          <p:nvPr/>
        </p:nvSpPr>
        <p:spPr>
          <a:xfrm>
            <a:off x="53862" y="54000"/>
            <a:ext cx="1548000" cy="5756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9" name="Rectangle 72"/>
          <p:cNvSpPr/>
          <p:nvPr/>
        </p:nvSpPr>
        <p:spPr>
          <a:xfrm>
            <a:off x="54000" y="54000"/>
            <a:ext cx="431640" cy="576000"/>
          </a:xfrm>
          <a:prstGeom prst="rect">
            <a:avLst/>
          </a:prstGeom>
          <a:solidFill>
            <a:srgbClr val="0070C0"/>
          </a:solidFill>
          <a:ln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1" name="Rectangle 74"/>
          <p:cNvSpPr/>
          <p:nvPr/>
        </p:nvSpPr>
        <p:spPr>
          <a:xfrm>
            <a:off x="558720" y="29700"/>
            <a:ext cx="935640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strike="noStrike" spc="-1" dirty="0" smtClean="0">
                <a:solidFill>
                  <a:srgbClr val="FFFFFF"/>
                </a:solidFill>
                <a:latin typeface="Calibri"/>
              </a:rPr>
              <a:t>MDT</a:t>
            </a:r>
            <a:endParaRPr lang="en-US" sz="1400" b="0" strike="noStrike" spc="-1" dirty="0">
              <a:latin typeface="Arial" panose="020B0604020202090204"/>
            </a:endParaRPr>
          </a:p>
        </p:txBody>
      </p:sp>
      <p:sp>
        <p:nvSpPr>
          <p:cNvPr id="133" name="Rectangle 53"/>
          <p:cNvSpPr/>
          <p:nvPr/>
        </p:nvSpPr>
        <p:spPr>
          <a:xfrm>
            <a:off x="1655724" y="54000"/>
            <a:ext cx="4968552" cy="57606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Rectangle 75"/>
          <p:cNvSpPr/>
          <p:nvPr/>
        </p:nvSpPr>
        <p:spPr>
          <a:xfrm>
            <a:off x="54042" y="676380"/>
            <a:ext cx="1547640" cy="423505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1" name="Rectangle 40"/>
          <p:cNvSpPr/>
          <p:nvPr/>
        </p:nvSpPr>
        <p:spPr>
          <a:xfrm>
            <a:off x="144145" y="771525"/>
            <a:ext cx="1367790" cy="841375"/>
          </a:xfrm>
          <a:prstGeom prst="rect">
            <a:avLst/>
          </a:prstGeom>
          <a:gradFill rotWithShape="0">
            <a:gsLst>
              <a:gs pos="0">
                <a:srgbClr val="D9D9D9"/>
              </a:gs>
              <a:gs pos="100000">
                <a:srgbClr val="A6A6A6"/>
              </a:gs>
            </a:gsLst>
            <a:lin ang="5400000"/>
          </a:gradFill>
          <a:ln>
            <a:solidFill>
              <a:srgbClr val="FFFFFF">
                <a:lumMod val="8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2" name="TextBox 41"/>
          <p:cNvSpPr/>
          <p:nvPr/>
        </p:nvSpPr>
        <p:spPr>
          <a:xfrm>
            <a:off x="75735" y="771623"/>
            <a:ext cx="679680" cy="24257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595959"/>
                </a:solidFill>
                <a:latin typeface="Calibri"/>
              </a:rPr>
              <a:t>Patient</a:t>
            </a:r>
            <a:endParaRPr lang="en-US" sz="1000" b="0" strike="noStrike" spc="-1">
              <a:latin typeface="Arial" panose="020B0604020202090204"/>
            </a:endParaRPr>
          </a:p>
        </p:txBody>
      </p:sp>
      <p:grpSp>
        <p:nvGrpSpPr>
          <p:cNvPr id="67" name="Gruppe 66"/>
          <p:cNvGrpSpPr/>
          <p:nvPr/>
        </p:nvGrpSpPr>
        <p:grpSpPr>
          <a:xfrm>
            <a:off x="178883" y="4141493"/>
            <a:ext cx="1386611" cy="631548"/>
            <a:chOff x="178883" y="4141493"/>
            <a:chExt cx="1386611" cy="631548"/>
          </a:xfrm>
        </p:grpSpPr>
        <p:pic>
          <p:nvPicPr>
            <p:cNvPr id="68" name="Bilde 67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5763"/>
            <a:stretch>
              <a:fillRect/>
            </a:stretch>
          </p:blipFill>
          <p:spPr>
            <a:xfrm>
              <a:off x="178883" y="4229919"/>
              <a:ext cx="576693" cy="543122"/>
            </a:xfrm>
            <a:prstGeom prst="rect">
              <a:avLst/>
            </a:prstGeom>
          </p:spPr>
        </p:pic>
        <p:sp>
          <p:nvSpPr>
            <p:cNvPr id="69" name="TekstSylinder 68"/>
            <p:cNvSpPr txBox="1"/>
            <p:nvPr/>
          </p:nvSpPr>
          <p:spPr>
            <a:xfrm>
              <a:off x="647284" y="4495960"/>
              <a:ext cx="918210" cy="2755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600" dirty="0">
                  <a:solidFill>
                    <a:srgbClr val="005495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Infrastructure for </a:t>
              </a:r>
              <a:endParaRPr lang="en-US" sz="600" dirty="0">
                <a:solidFill>
                  <a:srgbClr val="005495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algn="ctr"/>
              <a:r>
                <a:rPr lang="en-US" sz="600" dirty="0">
                  <a:solidFill>
                    <a:srgbClr val="005495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Precision Diagnostics</a:t>
              </a:r>
              <a:endParaRPr lang="nb-NO" sz="600" dirty="0">
                <a:solidFill>
                  <a:srgbClr val="005495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pic>
          <p:nvPicPr>
            <p:cNvPr id="70" name="Bilde 69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717" r="-3477"/>
            <a:stretch>
              <a:fillRect/>
            </a:stretch>
          </p:blipFill>
          <p:spPr>
            <a:xfrm>
              <a:off x="737258" y="4141493"/>
              <a:ext cx="792088" cy="543122"/>
            </a:xfrm>
            <a:prstGeom prst="rect">
              <a:avLst/>
            </a:prstGeom>
          </p:spPr>
        </p:pic>
      </p:grpSp>
      <p:sp>
        <p:nvSpPr>
          <p:cNvPr id="73" name="TextBox 41"/>
          <p:cNvSpPr/>
          <p:nvPr/>
        </p:nvSpPr>
        <p:spPr>
          <a:xfrm>
            <a:off x="56050" y="1044673"/>
            <a:ext cx="679680" cy="21145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00" spc="-1" dirty="0">
                <a:solidFill>
                  <a:srgbClr val="000000"/>
                </a:solidFill>
                <a:latin typeface="Calibri"/>
                <a:sym typeface="+mn-ea"/>
              </a:rPr>
              <a:t>Y of D: </a:t>
            </a:r>
            <a:endParaRPr lang="en-US" sz="800" b="0" strike="noStrike" spc="-1">
              <a:latin typeface="Arial" panose="020B0604020202090204"/>
            </a:endParaRPr>
          </a:p>
        </p:txBody>
      </p:sp>
      <p:sp>
        <p:nvSpPr>
          <p:cNvPr id="74" name="Rectangle 47"/>
          <p:cNvSpPr/>
          <p:nvPr/>
        </p:nvSpPr>
        <p:spPr>
          <a:xfrm>
            <a:off x="144042" y="1696398"/>
            <a:ext cx="1367640" cy="575640"/>
          </a:xfrm>
          <a:prstGeom prst="rect">
            <a:avLst/>
          </a:prstGeom>
          <a:gradFill rotWithShape="0">
            <a:gsLst>
              <a:gs pos="0">
                <a:srgbClr val="D9D9D9"/>
              </a:gs>
              <a:gs pos="100000">
                <a:srgbClr val="A6A6A6"/>
              </a:gs>
            </a:gsLst>
            <a:lin ang="5400000"/>
          </a:gradFill>
          <a:ln>
            <a:solidFill>
              <a:srgbClr val="FFFFFF">
                <a:lumMod val="8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5" name="TextBox 48"/>
          <p:cNvSpPr/>
          <p:nvPr/>
        </p:nvSpPr>
        <p:spPr>
          <a:xfrm>
            <a:off x="75565" y="1785793"/>
            <a:ext cx="651510" cy="396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>
                <a:solidFill>
                  <a:srgbClr val="595959"/>
                </a:solidFill>
                <a:latin typeface="Calibri"/>
              </a:rPr>
              <a:t>Bio-material</a:t>
            </a:r>
            <a:endParaRPr lang="en-US" sz="1000" b="0" strike="noStrike" spc="-1">
              <a:latin typeface="Arial" panose="020B0604020202090204"/>
            </a:endParaRPr>
          </a:p>
        </p:txBody>
      </p:sp>
      <p:sp>
        <p:nvSpPr>
          <p:cNvPr id="76" name="Rectangle 49"/>
          <p:cNvSpPr/>
          <p:nvPr/>
        </p:nvSpPr>
        <p:spPr>
          <a:xfrm>
            <a:off x="144677" y="2374973"/>
            <a:ext cx="1367640" cy="395640"/>
          </a:xfrm>
          <a:prstGeom prst="rect">
            <a:avLst/>
          </a:prstGeom>
          <a:gradFill rotWithShape="0">
            <a:gsLst>
              <a:gs pos="0">
                <a:srgbClr val="D9D9D9"/>
              </a:gs>
              <a:gs pos="100000">
                <a:srgbClr val="A6A6A6"/>
              </a:gs>
            </a:gsLst>
            <a:lin ang="5400000"/>
          </a:gradFill>
          <a:ln>
            <a:solidFill>
              <a:srgbClr val="FFFFFF">
                <a:lumMod val="8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7" name="TextBox 50"/>
          <p:cNvSpPr/>
          <p:nvPr/>
        </p:nvSpPr>
        <p:spPr>
          <a:xfrm>
            <a:off x="76870" y="2375568"/>
            <a:ext cx="679680" cy="394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000" b="0" strike="noStrike" spc="-1" dirty="0">
                <a:solidFill>
                  <a:srgbClr val="595959"/>
                </a:solidFill>
                <a:latin typeface="Calibri"/>
              </a:rPr>
              <a:t>Tumor content</a:t>
            </a:r>
            <a:endParaRPr lang="en-US" sz="1000" b="0" strike="noStrike" spc="-1" dirty="0">
              <a:latin typeface="Arial" panose="020B0604020202090204"/>
            </a:endParaRPr>
          </a:p>
        </p:txBody>
      </p:sp>
      <p:sp>
        <p:nvSpPr>
          <p:cNvPr id="93" name="Rectangle 94"/>
          <p:cNvSpPr/>
          <p:nvPr/>
        </p:nvSpPr>
        <p:spPr>
          <a:xfrm>
            <a:off x="19645" y="4880472"/>
            <a:ext cx="1743938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00" dirty="0" smtClean="0">
                <a:solidFill>
                  <a:schemeClr val="tx1"/>
                </a:solidFill>
              </a:rPr>
              <a:t>VAF=variant allele fraction , </a:t>
            </a:r>
            <a:endParaRPr lang="en-US" sz="600" dirty="0" smtClean="0">
              <a:solidFill>
                <a:schemeClr val="tx1"/>
              </a:solidFill>
            </a:endParaRPr>
          </a:p>
          <a:p>
            <a:r>
              <a:rPr lang="en-US" sz="600" dirty="0" smtClean="0">
                <a:solidFill>
                  <a:schemeClr val="tx1"/>
                </a:solidFill>
              </a:rPr>
              <a:t>CN=copy number </a:t>
            </a:r>
            <a:r>
              <a:rPr lang="en-US" sz="600" dirty="0" smtClean="0">
                <a:solidFill>
                  <a:schemeClr val="tx1"/>
                </a:solidFill>
                <a:sym typeface="+mn-ea"/>
              </a:rPr>
              <a:t>(assumes  ploidy 2).</a:t>
            </a:r>
            <a:r>
              <a:rPr lang="en-US" sz="600" dirty="0" smtClean="0">
                <a:solidFill>
                  <a:srgbClr val="FF0000"/>
                </a:solidFill>
                <a:sym typeface="+mn-ea"/>
              </a:rPr>
              <a:t> </a:t>
            </a:r>
            <a:r>
              <a:rPr lang="en-US" sz="600" dirty="0" smtClean="0">
                <a:solidFill>
                  <a:schemeClr val="tx1"/>
                </a:solidFill>
              </a:rPr>
              <a:t> </a:t>
            </a:r>
            <a:endParaRPr lang="en-US" sz="600" dirty="0" smtClean="0">
              <a:solidFill>
                <a:schemeClr val="tx1"/>
              </a:solidFill>
            </a:endParaRPr>
          </a:p>
        </p:txBody>
      </p:sp>
      <p:sp>
        <p:nvSpPr>
          <p:cNvPr id="94" name="TekstSylinder 93"/>
          <p:cNvSpPr txBox="1"/>
          <p:nvPr/>
        </p:nvSpPr>
        <p:spPr>
          <a:xfrm>
            <a:off x="7110000" y="4910400"/>
            <a:ext cx="202819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#</a:t>
            </a:r>
            <a:r>
              <a:rPr lang="en-US" sz="800" dirty="0" smtClean="0"/>
              <a:t> Variant </a:t>
            </a:r>
            <a:r>
              <a:rPr lang="en-US" sz="800" dirty="0"/>
              <a:t>of un</a:t>
            </a:r>
            <a:r>
              <a:rPr lang="nb-NO" altLang="en-US" sz="800" dirty="0"/>
              <a:t>certain</a:t>
            </a:r>
            <a:r>
              <a:rPr lang="en-US" sz="800" dirty="0"/>
              <a:t> significance (VUS)</a:t>
            </a:r>
            <a:endParaRPr lang="nb-NO" altLang="en-US" sz="800" i="1" dirty="0" smtClean="0">
              <a:sym typeface="+mn-ea"/>
            </a:endParaRPr>
          </a:p>
        </p:txBody>
      </p:sp>
      <p:sp>
        <p:nvSpPr>
          <p:cNvPr id="95" name="Rectangle 69"/>
          <p:cNvSpPr/>
          <p:nvPr/>
        </p:nvSpPr>
        <p:spPr>
          <a:xfrm>
            <a:off x="8226138" y="60425"/>
            <a:ext cx="1223640" cy="49098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0" strike="noStrike" spc="-1" dirty="0" smtClean="0">
                <a:solidFill>
                  <a:schemeClr val="bg1"/>
                </a:solidFill>
                <a:latin typeface="Calibri"/>
              </a:rPr>
              <a:t>MDT</a:t>
            </a:r>
            <a:endParaRPr lang="en-US" sz="1600" b="0" strike="noStrike" spc="-1" dirty="0">
              <a:solidFill>
                <a:schemeClr val="bg1"/>
              </a:solidFill>
              <a:latin typeface="Arial" panose="020B0604020202090204"/>
            </a:endParaRPr>
          </a:p>
          <a:p>
            <a:pPr algn="ctr">
              <a:lnSpc>
                <a:spcPct val="100000"/>
              </a:lnSpc>
            </a:pPr>
            <a:r>
              <a:rPr lang="en-US" sz="1000" b="0" strike="noStrike" spc="-1" dirty="0">
                <a:solidFill>
                  <a:schemeClr val="bg1"/>
                </a:solidFill>
                <a:latin typeface="Calibri"/>
              </a:rPr>
              <a:t>Report </a:t>
            </a:r>
            <a:endParaRPr lang="en-US" sz="1000" b="0" strike="noStrike" spc="-1" dirty="0">
              <a:solidFill>
                <a:schemeClr val="bg1"/>
              </a:solidFill>
              <a:latin typeface="Arial" panose="020B0604020202090204"/>
            </a:endParaRPr>
          </a:p>
        </p:txBody>
      </p:sp>
      <p:grpSp>
        <p:nvGrpSpPr>
          <p:cNvPr id="53" name="Gruppe 41"/>
          <p:cNvGrpSpPr/>
          <p:nvPr/>
        </p:nvGrpSpPr>
        <p:grpSpPr>
          <a:xfrm>
            <a:off x="196462" y="1299222"/>
            <a:ext cx="146716" cy="214722"/>
            <a:chOff x="171000" y="979920"/>
            <a:chExt cx="182160" cy="263520"/>
          </a:xfrm>
        </p:grpSpPr>
        <p:sp>
          <p:nvSpPr>
            <p:cNvPr id="54" name="Ellipse 42"/>
            <p:cNvSpPr/>
            <p:nvPr/>
          </p:nvSpPr>
          <p:spPr>
            <a:xfrm>
              <a:off x="209520" y="1195920"/>
              <a:ext cx="106200" cy="47520"/>
            </a:xfrm>
            <a:prstGeom prst="ellipse">
              <a:avLst/>
            </a:prstGeom>
            <a:gradFill rotWithShape="0">
              <a:gsLst>
                <a:gs pos="0">
                  <a:srgbClr val="8EB4E3"/>
                </a:gs>
                <a:gs pos="100000">
                  <a:srgbClr val="0070C0"/>
                </a:gs>
              </a:gsLst>
              <a:lin ang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5" name="Tåre 43"/>
            <p:cNvSpPr/>
            <p:nvPr/>
          </p:nvSpPr>
          <p:spPr>
            <a:xfrm rot="8045400">
              <a:off x="189000" y="1018080"/>
              <a:ext cx="135360" cy="136800"/>
            </a:xfrm>
            <a:prstGeom prst="teardrop">
              <a:avLst>
                <a:gd name="adj" fmla="val 143023"/>
              </a:avLst>
            </a:prstGeom>
            <a:gradFill rotWithShape="0">
              <a:gsLst>
                <a:gs pos="0">
                  <a:srgbClr val="17375E"/>
                </a:gs>
                <a:gs pos="100000">
                  <a:srgbClr val="C6D9F1"/>
                </a:gs>
              </a:gsLst>
              <a:path path="rect">
                <a:fillToRect l="100000" t="100000"/>
              </a:path>
            </a:gradFill>
            <a:ln w="6350">
              <a:solidFill>
                <a:srgbClr val="FFFFFF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6" name="Ellipse 44"/>
            <p:cNvSpPr/>
            <p:nvPr/>
          </p:nvSpPr>
          <p:spPr>
            <a:xfrm>
              <a:off x="227880" y="1067040"/>
              <a:ext cx="52920" cy="54360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34" name="TextBox 133"/>
          <p:cNvSpPr txBox="1"/>
          <p:nvPr/>
        </p:nvSpPr>
        <p:spPr>
          <a:xfrm>
            <a:off x="54864" y="54864"/>
            <a:ext cx="42976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AFAFA"/>
                </a:solidFill>
              </a:defRPr>
            </a:pPr>
            <a:r>
              <a:t>XX</a:t>
            </a:r>
            <a:br/>
            <a:r>
              <a:t>XXX</a:t>
            </a:r>
            <a:br/>
            <a:r>
              <a:t>2026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429000" y="100584"/>
            <a:ext cx="1216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AFAFA"/>
                </a:solidFill>
              </a:defRPr>
            </a:pPr>
            <a:r>
              <a:t>IPD2225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220456" y="18288"/>
            <a:ext cx="411480" cy="50292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 algn="ctr">
              <a:defRPr sz="900">
                <a:solidFill>
                  <a:srgbClr val="FAFAFA"/>
                </a:solidFill>
              </a:defRPr>
            </a:pPr>
            <a:r>
              <a:t>18</a:t>
            </a:r>
            <a:br/>
            <a:r>
              <a:t>MAY</a:t>
            </a:r>
            <a:br/>
            <a:r>
              <a:t>2026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611112" y="475488"/>
            <a:ext cx="2313432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404040"/>
                </a:solidFill>
              </a:defRPr>
            </a:pPr>
            <a:r>
              <a:t>Version string: 2.2.0.12/0.3.2:22-06-07/1.0.0/1.0.0/hg19/TR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57200" y="1344168"/>
            <a:ext cx="7863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AFAFA"/>
                </a:solidFill>
              </a:defRPr>
            </a:pPr>
            <a:r>
              <a:t>OUS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49224" y="1682496"/>
            <a:ext cx="78638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Primary tumor</a:t>
            </a:r>
            <a:br/>
            <a:r>
              <a:t> naive</a:t>
            </a:r>
            <a:br/>
            <a:r>
              <a:t>Archived FFPE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40664" y="2423160"/>
            <a:ext cx="576072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~50%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276088" y="173736"/>
            <a:ext cx="786384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FAFAFA"/>
                </a:solidFill>
              </a:defRPr>
            </a:pPr>
            <a:r>
              <a:t>CNS/Brain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77240" y="1024128"/>
            <a:ext cx="438912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/>
            </a:pPr>
            <a:r>
              <a:t>-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57784" y="320040"/>
            <a:ext cx="932688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AFAFA"/>
                </a:solidFill>
              </a:defRPr>
            </a:pPr>
            <a:r>
              <a:t>OUS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30936" y="722376"/>
            <a:ext cx="79552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M/66y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67512" y="2057400"/>
            <a:ext cx="640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"/>
            </a:pPr>
            <a:r>
              <a:t>DNA:25materialX</a:t>
            </a:r>
            <a:br/>
            <a:r>
              <a:t>RNA:25materialX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920240" y="100584"/>
            <a:ext cx="97840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FAFAFA"/>
                </a:solidFill>
              </a:defRPr>
            </a:pPr>
            <a:r>
              <a:t>Trial ID</a:t>
            </a:r>
            <a:br/>
            <a:r>
              <a:t>MRARE-X-xxxx</a:t>
            </a:r>
          </a:p>
        </p:txBody>
      </p:sp>
      <p:graphicFrame>
        <p:nvGraphicFramePr>
          <p:cNvPr id="147" name="Table 146"/>
          <p:cNvGraphicFramePr>
            <a:graphicFrameLocks noGrp="1"/>
          </p:cNvGraphicFramePr>
          <p:nvPr/>
        </p:nvGraphicFramePr>
        <p:xfrm>
          <a:off x="6611112" y="969264"/>
          <a:ext cx="2523744" cy="1490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0936"/>
                <a:gridCol w="630936"/>
                <a:gridCol w="630936"/>
                <a:gridCol w="630936"/>
              </a:tblGrid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Gene_symbol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Protein_change_short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Coding_status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AF_tumor_DNA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TP53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G245D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0.20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R445X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stop_gained,splice_region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0.18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T319X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frameshift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0.06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MSH2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N596del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inframe_deletion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0.56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LZTR1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W469X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stop_gained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0.61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HNF1A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P289fs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frameshift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0.05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S146X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frameshift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0.14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ARID1B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R1845C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0.02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V2115I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0.17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AXIN1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A441T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0.11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BCORL1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R1299Q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0.02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FAT1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S4566R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0.17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FAT1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V1577I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0.05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GNAS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G414R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0.05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PRDM1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A379T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0.17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G36R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0.05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LATS2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I993T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0.60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NOTCH1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R1663W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0.36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NOTCH3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A399T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missense,splice_region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0.21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DNMT3A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Q356X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stop_gained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0.04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SETD2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R70X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stop_gained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0.20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MEF2B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T274fs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frameshift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0.20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CD276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R111H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0.22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ERCC1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V126I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0.17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FGF8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T133M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0.05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NUP93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P656L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0.19</a:t>
                      </a:r>
                    </a:p>
                  </a:txBody>
                  <a:tcPr/>
                </a:tc>
              </a:tr>
              <a:tr h="5139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PRKDC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A1947T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0.20</a:t>
                      </a:r>
                    </a:p>
                  </a:txBody>
                  <a:tcPr/>
                </a:tc>
              </a:tr>
              <a:tr h="51412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GEN1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N154D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0.40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8" name="TextBox 147"/>
          <p:cNvSpPr txBox="1"/>
          <p:nvPr/>
        </p:nvSpPr>
        <p:spPr>
          <a:xfrm>
            <a:off x="6729984" y="749808"/>
            <a:ext cx="2331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/>
            </a:pPr>
            <a:r>
              <a:t>Variants that alter protein coding sequence 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266944" y="1463040"/>
            <a:ext cx="374904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MS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702400" y="1504800"/>
            <a:ext cx="813599" cy="23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/>
            </a:pPr>
            <a:r>
              <a:t>Stable</a:t>
            </a:r>
            <a:br/>
            <a:r>
              <a:t>5 unstable out of 121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346704" y="1161288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/>
            </a:pPr>
            <a:r>
              <a:t>28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346704" y="1042415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/>
            </a:pPr>
            <a:r>
              <a:t>34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346704" y="932688"/>
            <a:ext cx="274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/>
            </a:pPr>
            <a:r>
              <a:t>42</a:t>
            </a:r>
          </a:p>
        </p:txBody>
      </p:sp>
      <p:sp>
        <p:nvSpPr>
          <p:cNvPr id="154" name="Oval 153"/>
          <p:cNvSpPr/>
          <p:nvPr/>
        </p:nvSpPr>
        <p:spPr>
          <a:xfrm>
            <a:off x="2977200" y="1404000"/>
            <a:ext cx="208800" cy="208800"/>
          </a:xfrm>
          <a:prstGeom prst="ellipse">
            <a:avLst/>
          </a:prstGeom>
          <a:ln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2962800" y="1404000"/>
            <a:ext cx="2088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FAFAFA"/>
                </a:solidFill>
              </a:defRPr>
            </a:pPr>
            <a:r>
              <a:t>15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696712" y="969264"/>
            <a:ext cx="8869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/>
            </a:pPr>
            <a:r>
              <a:t>splicing: None reported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696712" y="1152144"/>
            <a:ext cx="8869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/>
            </a:pPr>
            <a:r>
              <a:t>fusion: None reported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63"/>
          <p:cNvSpPr/>
          <p:nvPr/>
        </p:nvSpPr>
        <p:spPr>
          <a:xfrm>
            <a:off x="1677954" y="1050447"/>
            <a:ext cx="3298079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 smtClean="0"/>
              <a:t>Biomarkers and variant/gene-drug association</a:t>
            </a:r>
            <a:endParaRPr lang="en-US" sz="1100" b="1" dirty="0"/>
          </a:p>
        </p:txBody>
      </p:sp>
      <p:graphicFrame>
        <p:nvGraphicFramePr>
          <p:cNvPr id="44" name="Table 74"/>
          <p:cNvGraphicFramePr>
            <a:graphicFrameLocks noGrp="1"/>
          </p:cNvGraphicFramePr>
          <p:nvPr/>
        </p:nvGraphicFramePr>
        <p:xfrm>
          <a:off x="1687796" y="1295415"/>
          <a:ext cx="2625876" cy="293752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1545756"/>
                <a:gridCol w="1080120"/>
              </a:tblGrid>
              <a:tr h="29375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b-NO" sz="800" b="1" dirty="0" smtClean="0"/>
                        <a:t>Biomarkers potentially</a:t>
                      </a:r>
                      <a:r>
                        <a:rPr lang="nb-NO" sz="800" b="1" baseline="0" dirty="0" smtClean="0"/>
                        <a:t> relevant for immune therapy</a:t>
                      </a:r>
                      <a:endParaRPr lang="en-US" sz="800" b="1" dirty="0">
                        <a:latin typeface="Times New Roman" panose="02020503050405090304"/>
                        <a:ea typeface="Times New Roman" panose="02020503050405090304"/>
                      </a:endParaRPr>
                    </a:p>
                  </a:txBody>
                  <a:tcPr marL="57941" marR="57941" marT="0" marB="0" anchor="ctr">
                    <a:solidFill>
                      <a:srgbClr val="DCF0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600" dirty="0" smtClean="0">
                        <a:latin typeface="Times New Roman" panose="02020503050405090304"/>
                        <a:ea typeface="Times New Roman" panose="02020503050405090304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800" dirty="0" smtClean="0">
                          <a:latin typeface="+mn-lt"/>
                          <a:ea typeface="Times New Roman" panose="02020503050405090304"/>
                        </a:rPr>
                        <a:t>None reported</a:t>
                      </a:r>
                      <a:endParaRPr lang="en-US" sz="800" dirty="0" smtClean="0">
                        <a:latin typeface="+mn-lt"/>
                        <a:ea typeface="Times New Roman" panose="02020503050405090304"/>
                      </a:endParaRPr>
                    </a:p>
                  </a:txBody>
                  <a:tcPr marL="57941" marR="57941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9" name="Table 12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691681" y="1655027"/>
          <a:ext cx="4876216" cy="916723"/>
        </p:xfrm>
        <a:graphic>
          <a:graphicData uri="http://schemas.openxmlformats.org/drawingml/2006/table">
            <a:tbl>
              <a:tblPr/>
              <a:tblGrid>
                <a:gridCol w="451785"/>
                <a:gridCol w="486537"/>
                <a:gridCol w="527212"/>
                <a:gridCol w="435051"/>
                <a:gridCol w="451785"/>
                <a:gridCol w="590794"/>
                <a:gridCol w="541741"/>
                <a:gridCol w="521288"/>
                <a:gridCol w="468000"/>
                <a:gridCol w="402023"/>
              </a:tblGrid>
              <a:tr h="141849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Gene</a:t>
                      </a: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Variant</a:t>
                      </a: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Type</a:t>
                      </a: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VAF</a:t>
                      </a:r>
                      <a:r>
                        <a:rPr lang="en-US" sz="7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/</a:t>
                      </a:r>
                      <a:endParaRPr lang="en-US" sz="700" b="1" dirty="0" smtClean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CN </a:t>
                      </a: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Variant</a:t>
                      </a: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GoF/</a:t>
                      </a:r>
                      <a:endParaRPr lang="en-US" sz="700" b="1" dirty="0" smtClean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LoF</a:t>
                      </a: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Pathway</a:t>
                      </a:r>
                      <a:r>
                        <a:rPr lang="en-US" sz="7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/</a:t>
                      </a:r>
                      <a:endParaRPr lang="en-US" sz="700" b="1" dirty="0" smtClean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function</a:t>
                      </a: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Therapeutic context</a:t>
                      </a: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0FA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Level of Evidence</a:t>
                      </a: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0FA"/>
                    </a:solidFill>
                  </a:tcPr>
                </a:tc>
                <a:tc hMerge="1">
                  <a:tcPr/>
                </a:tc>
              </a:tr>
              <a:tr h="310548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45770" algn="l"/>
                        </a:tabLst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Sensitive</a:t>
                      </a: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Resistant</a:t>
                      </a: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Patient’s </a:t>
                      </a: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tumor type</a:t>
                      </a: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Other tumor type</a:t>
                      </a: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--</a:t>
                      </a:r>
                      <a:endParaRPr lang="en-US" sz="12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 smtClean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0994"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i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Variant classification </a:t>
                      </a:r>
                      <a:endParaRPr lang="en-US" sz="800" i="1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800" baseline="0" dirty="0" smtClean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8" name="Rectangle 39"/>
          <p:cNvSpPr/>
          <p:nvPr/>
        </p:nvSpPr>
        <p:spPr>
          <a:xfrm>
            <a:off x="8233900" y="90679"/>
            <a:ext cx="122413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/>
                </a:solidFill>
              </a:rPr>
              <a:t>MTB</a:t>
            </a:r>
            <a:endParaRPr lang="en-US" sz="1600" dirty="0" smtClean="0">
              <a:solidFill>
                <a:schemeClr val="bg1"/>
              </a:solidFill>
            </a:endParaRPr>
          </a:p>
          <a:p>
            <a:pPr algn="ctr"/>
            <a:r>
              <a:rPr lang="en-US" sz="1000" dirty="0" smtClean="0">
                <a:solidFill>
                  <a:schemeClr val="bg1"/>
                </a:solidFill>
              </a:rPr>
              <a:t>Report 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92" name="Rectangle 69"/>
          <p:cNvSpPr/>
          <p:nvPr/>
        </p:nvSpPr>
        <p:spPr>
          <a:xfrm>
            <a:off x="8267241" y="90679"/>
            <a:ext cx="122413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/>
                </a:solidFill>
              </a:rPr>
              <a:t>MTB</a:t>
            </a:r>
            <a:endParaRPr lang="en-US" sz="1600" dirty="0" smtClean="0">
              <a:solidFill>
                <a:schemeClr val="bg1"/>
              </a:solidFill>
            </a:endParaRPr>
          </a:p>
          <a:p>
            <a:pPr algn="ctr"/>
            <a:r>
              <a:rPr lang="en-US" sz="1000" dirty="0" smtClean="0">
                <a:solidFill>
                  <a:schemeClr val="bg1"/>
                </a:solidFill>
              </a:rPr>
              <a:t>Report 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62" name="Rectangle 113"/>
          <p:cNvSpPr/>
          <p:nvPr/>
        </p:nvSpPr>
        <p:spPr>
          <a:xfrm>
            <a:off x="1706184" y="3331375"/>
            <a:ext cx="459698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b="1" dirty="0" smtClean="0"/>
              <a:t>Additional results: Copy number variant </a:t>
            </a:r>
            <a:endParaRPr lang="en-US" sz="900" b="1" dirty="0"/>
          </a:p>
        </p:txBody>
      </p:sp>
      <p:sp>
        <p:nvSpPr>
          <p:cNvPr id="69" name="TekstSylinder 68"/>
          <p:cNvSpPr txBox="1"/>
          <p:nvPr/>
        </p:nvSpPr>
        <p:spPr>
          <a:xfrm>
            <a:off x="6878980" y="2382866"/>
            <a:ext cx="19669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 smtClean="0"/>
              <a:t>According to ESMO guidelines, recommendation for genetic counseling does not apply for the variants reported</a:t>
            </a:r>
            <a:endParaRPr lang="en-US" sz="800" i="1" dirty="0"/>
          </a:p>
        </p:txBody>
      </p:sp>
      <p:sp>
        <p:nvSpPr>
          <p:cNvPr id="18" name="Rectangle 70"/>
          <p:cNvSpPr/>
          <p:nvPr/>
        </p:nvSpPr>
        <p:spPr>
          <a:xfrm>
            <a:off x="8077940" y="3941673"/>
            <a:ext cx="92204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 smtClean="0">
                <a:solidFill>
                  <a:srgbClr val="000000"/>
                </a:solidFill>
                <a:ea typeface="Calibri"/>
                <a:cs typeface="Times New Roman" panose="02020503050405090304"/>
              </a:rPr>
              <a:t>Mutation hotspot</a:t>
            </a:r>
            <a:endParaRPr lang="en-US" sz="800" dirty="0"/>
          </a:p>
        </p:txBody>
      </p:sp>
      <p:sp>
        <p:nvSpPr>
          <p:cNvPr id="19" name="Rounded Rectangle 67"/>
          <p:cNvSpPr/>
          <p:nvPr/>
        </p:nvSpPr>
        <p:spPr>
          <a:xfrm>
            <a:off x="7717940" y="3990146"/>
            <a:ext cx="360000" cy="11849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ktangel 19"/>
          <p:cNvSpPr/>
          <p:nvPr/>
        </p:nvSpPr>
        <p:spPr>
          <a:xfrm>
            <a:off x="7614444" y="4119498"/>
            <a:ext cx="7008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 smtClean="0"/>
              <a:t>*</a:t>
            </a:r>
            <a:r>
              <a:rPr lang="en-US" sz="800" dirty="0" err="1" smtClean="0"/>
              <a:t>OncoKB</a:t>
            </a:r>
            <a:endParaRPr lang="en-US" sz="800" dirty="0" smtClean="0"/>
          </a:p>
          <a:p>
            <a:r>
              <a:rPr lang="en-US" sz="800" dirty="0" smtClean="0"/>
              <a:t>**PMID:XX</a:t>
            </a:r>
            <a:endParaRPr lang="en-US" sz="800" dirty="0" smtClean="0"/>
          </a:p>
          <a:p>
            <a:r>
              <a:rPr lang="en-US" sz="800" dirty="0" smtClean="0"/>
              <a:t>***PMID:XX</a:t>
            </a:r>
            <a:endParaRPr lang="nb-NO" dirty="0"/>
          </a:p>
        </p:txBody>
      </p:sp>
      <p:sp>
        <p:nvSpPr>
          <p:cNvPr id="23" name="Tittel 1"/>
          <p:cNvSpPr txBox="1"/>
          <p:nvPr/>
        </p:nvSpPr>
        <p:spPr>
          <a:xfrm>
            <a:off x="66387" y="147982"/>
            <a:ext cx="1449000" cy="235176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 smtClean="0"/>
              <a:t>Standard templates for text and tables in the report:</a:t>
            </a:r>
            <a:endParaRPr lang="en-US" sz="1500" b="1" dirty="0"/>
          </a:p>
        </p:txBody>
      </p:sp>
      <p:sp>
        <p:nvSpPr>
          <p:cNvPr id="28" name="Rectangle 113"/>
          <p:cNvSpPr/>
          <p:nvPr/>
        </p:nvSpPr>
        <p:spPr>
          <a:xfrm>
            <a:off x="1702168" y="3497139"/>
            <a:ext cx="459698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b="1" dirty="0" smtClean="0"/>
              <a:t>Additional results: Variants of unknown significance in treatment relevant genes</a:t>
            </a:r>
            <a:endParaRPr lang="en-US" sz="900" b="1" dirty="0"/>
          </a:p>
        </p:txBody>
      </p:sp>
      <p:graphicFrame>
        <p:nvGraphicFramePr>
          <p:cNvPr id="29" name="Table 114"/>
          <p:cNvGraphicFramePr>
            <a:graphicFrameLocks noGrp="1"/>
          </p:cNvGraphicFramePr>
          <p:nvPr/>
        </p:nvGraphicFramePr>
        <p:xfrm>
          <a:off x="1795169" y="2801548"/>
          <a:ext cx="4771282" cy="428864"/>
        </p:xfrm>
        <a:graphic>
          <a:graphicData uri="http://schemas.openxmlformats.org/drawingml/2006/table">
            <a:tbl>
              <a:tblPr/>
              <a:tblGrid>
                <a:gridCol w="449547"/>
                <a:gridCol w="552457"/>
                <a:gridCol w="622699"/>
                <a:gridCol w="3146579"/>
              </a:tblGrid>
              <a:tr h="1850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Gene</a:t>
                      </a:r>
                      <a:endParaRPr lang="en-US" sz="11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Variant</a:t>
                      </a:r>
                      <a:endParaRPr lang="en-US" sz="11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baseline="0" dirty="0" err="1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GoF</a:t>
                      </a:r>
                      <a:r>
                        <a:rPr lang="en-US" sz="800" b="1" baseline="0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/</a:t>
                      </a:r>
                      <a:r>
                        <a:rPr lang="en-US" sz="800" b="1" baseline="0" dirty="0" err="1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LoF</a:t>
                      </a:r>
                      <a:endParaRPr lang="en-US" sz="11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Comments</a:t>
                      </a:r>
                      <a:endParaRPr lang="en-US" sz="800" b="1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9996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 smtClean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 panose="02020503050405090304"/>
                        </a:rPr>
                        <a:t>XX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+mn-lt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800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 panose="02020503050405090304"/>
                        </a:rPr>
                        <a:t>xx</a:t>
                      </a:r>
                      <a:endParaRPr lang="en-US" sz="800" dirty="0" smtClean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aseline="0" dirty="0" err="1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LoF</a:t>
                      </a:r>
                      <a:r>
                        <a:rPr lang="en-US" sz="800" baseline="0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/</a:t>
                      </a:r>
                      <a:r>
                        <a:rPr lang="en-US" sz="800" baseline="0" dirty="0" err="1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GoF</a:t>
                      </a:r>
                      <a:endParaRPr lang="en-US" sz="800" baseline="0" dirty="0" smtClean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aseline="0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Unknown</a:t>
                      </a:r>
                      <a:endParaRPr lang="en-US" sz="800" baseline="0" dirty="0" smtClean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nb-NO" sz="80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0" name="Rectangle 113"/>
          <p:cNvSpPr/>
          <p:nvPr/>
        </p:nvSpPr>
        <p:spPr>
          <a:xfrm>
            <a:off x="1752509" y="2615817"/>
            <a:ext cx="459698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b="1" dirty="0" smtClean="0"/>
              <a:t>Additional results: Variants of </a:t>
            </a:r>
            <a:r>
              <a:rPr lang="en-US" sz="900" b="1" dirty="0"/>
              <a:t>potential biological and diagnostic </a:t>
            </a:r>
            <a:r>
              <a:rPr lang="en-US" sz="900" b="1" dirty="0" smtClean="0"/>
              <a:t>relevance</a:t>
            </a:r>
            <a:endParaRPr lang="en-US" sz="900" b="1" dirty="0"/>
          </a:p>
        </p:txBody>
      </p:sp>
      <p:graphicFrame>
        <p:nvGraphicFramePr>
          <p:cNvPr id="31" name="Tabell 30"/>
          <p:cNvGraphicFramePr>
            <a:graphicFrameLocks noGrp="1"/>
          </p:cNvGraphicFramePr>
          <p:nvPr/>
        </p:nvGraphicFramePr>
        <p:xfrm>
          <a:off x="5407643" y="808516"/>
          <a:ext cx="3645133" cy="5969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54652"/>
                <a:gridCol w="818643"/>
                <a:gridCol w="716312"/>
                <a:gridCol w="613982"/>
                <a:gridCol w="741544"/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ts val="825"/>
                        </a:lnSpc>
                        <a:spcAft>
                          <a:spcPts val="0"/>
                        </a:spcAft>
                      </a:pPr>
                      <a:r>
                        <a:rPr lang="nb-NO" sz="700" kern="1200" dirty="0">
                          <a:effectLst/>
                        </a:rPr>
                        <a:t>Gene1 </a:t>
                      </a:r>
                      <a:endParaRPr lang="nb-N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ts val="825"/>
                        </a:lnSpc>
                        <a:spcAft>
                          <a:spcPts val="0"/>
                        </a:spcAft>
                      </a:pPr>
                      <a:r>
                        <a:rPr lang="nb-NO" sz="700" kern="1200" dirty="0">
                          <a:effectLst/>
                        </a:rPr>
                        <a:t>Gene2 </a:t>
                      </a:r>
                      <a:endParaRPr lang="nb-N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ts val="825"/>
                        </a:lnSpc>
                        <a:spcAft>
                          <a:spcPts val="0"/>
                        </a:spcAft>
                      </a:pPr>
                      <a:r>
                        <a:rPr lang="nb-NO" sz="700" kern="1200" dirty="0" err="1">
                          <a:effectLst/>
                        </a:rPr>
                        <a:t>PairedAlt</a:t>
                      </a:r>
                      <a:r>
                        <a:rPr lang="nb-NO" sz="700" kern="1200" dirty="0">
                          <a:effectLst/>
                        </a:rPr>
                        <a:t> </a:t>
                      </a:r>
                      <a:endParaRPr lang="nb-N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ts val="825"/>
                        </a:lnSpc>
                        <a:spcAft>
                          <a:spcPts val="0"/>
                        </a:spcAft>
                      </a:pPr>
                      <a:r>
                        <a:rPr lang="nb-NO" sz="700" kern="1200" dirty="0" err="1">
                          <a:effectLst/>
                        </a:rPr>
                        <a:t>SplitAlt</a:t>
                      </a:r>
                      <a:r>
                        <a:rPr lang="nb-NO" sz="700" kern="1200" dirty="0">
                          <a:effectLst/>
                        </a:rPr>
                        <a:t> </a:t>
                      </a:r>
                      <a:endParaRPr lang="nb-N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>
                        <a:lnSpc>
                          <a:spcPts val="825"/>
                        </a:lnSpc>
                        <a:spcAft>
                          <a:spcPts val="0"/>
                        </a:spcAft>
                      </a:pPr>
                      <a:r>
                        <a:rPr lang="nb-NO" sz="700" kern="1200" dirty="0" smtClean="0">
                          <a:effectLst/>
                        </a:rPr>
                        <a:t>Support</a:t>
                      </a:r>
                      <a:r>
                        <a:rPr lang="nb-NO" sz="700" kern="1200" baseline="0" dirty="0" smtClean="0">
                          <a:effectLst/>
                        </a:rPr>
                        <a:t> %</a:t>
                      </a:r>
                      <a:r>
                        <a:rPr lang="nb-NO" sz="700" kern="1200" dirty="0" smtClean="0">
                          <a:effectLst/>
                        </a:rPr>
                        <a:t> </a:t>
                      </a:r>
                      <a:endParaRPr lang="nb-N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3810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800" b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AA</a:t>
                      </a:r>
                      <a:endParaRPr lang="en-US" sz="800" b="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800" b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sz="800" b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exonX</a:t>
                      </a:r>
                      <a:r>
                        <a:rPr lang="en-US" sz="800" b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800" b="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800" b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Chr</a:t>
                      </a:r>
                      <a:r>
                        <a:rPr lang="en-US" sz="800" b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Y</a:t>
                      </a:r>
                      <a:endParaRPr lang="nb-NO" sz="8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381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800" b="0" kern="12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BB</a:t>
                      </a:r>
                      <a:endParaRPr lang="nb-NO" sz="800" b="0" kern="1200" dirty="0" smtClean="0"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nb-NO" sz="800" b="0" kern="12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nb-NO" sz="800" b="0" kern="1200" dirty="0" err="1" smtClean="0">
                          <a:effectLst/>
                          <a:latin typeface="+mn-lt"/>
                          <a:ea typeface="+mn-ea"/>
                          <a:cs typeface="+mn-cs"/>
                        </a:rPr>
                        <a:t>exonX</a:t>
                      </a:r>
                      <a:r>
                        <a:rPr lang="nb-NO" sz="800" b="0" kern="12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nb-NO" sz="800" b="0" kern="1200" dirty="0" smtClean="0"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800" b="0" kern="1200" dirty="0" err="1" smtClean="0">
                          <a:effectLst/>
                          <a:latin typeface="+mn-lt"/>
                          <a:ea typeface="+mn-ea"/>
                          <a:cs typeface="+mn-cs"/>
                        </a:rPr>
                        <a:t>Chr</a:t>
                      </a:r>
                      <a:r>
                        <a:rPr lang="en-US" sz="800" b="0" kern="1200" baseline="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 Y</a:t>
                      </a:r>
                      <a:endParaRPr lang="nb-NO" sz="8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381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nb-NO" sz="8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381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endParaRPr lang="nb-NO" sz="8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381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Aft>
                          <a:spcPts val="0"/>
                        </a:spcAft>
                      </a:pPr>
                      <a:r>
                        <a:rPr lang="en-US" sz="8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503050405090304" pitchFamily="18" charset="0"/>
                        </a:rPr>
                        <a:t>x%</a:t>
                      </a:r>
                      <a:endParaRPr lang="nb-NO" sz="8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marL="38100" marR="38100" marT="38100" marB="381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2" name="Rectangle 70"/>
          <p:cNvSpPr/>
          <p:nvPr/>
        </p:nvSpPr>
        <p:spPr>
          <a:xfrm>
            <a:off x="8160900" y="587645"/>
            <a:ext cx="92525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 smtClean="0">
                <a:solidFill>
                  <a:srgbClr val="000000"/>
                </a:solidFill>
                <a:ea typeface="Calibri"/>
                <a:cs typeface="Times New Roman" panose="02020503050405090304"/>
              </a:rPr>
              <a:t>Reported fusions:</a:t>
            </a:r>
            <a:endParaRPr lang="en-US" sz="800" dirty="0"/>
          </a:p>
        </p:txBody>
      </p:sp>
      <p:sp>
        <p:nvSpPr>
          <p:cNvPr id="36" name="TekstSylinder 35"/>
          <p:cNvSpPr txBox="1"/>
          <p:nvPr/>
        </p:nvSpPr>
        <p:spPr>
          <a:xfrm>
            <a:off x="6881450" y="1878925"/>
            <a:ext cx="196698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rgbClr val="00B0F0"/>
                </a:solidFill>
              </a:rPr>
              <a:t>¤</a:t>
            </a:r>
            <a:r>
              <a:rPr lang="en-US" sz="800" i="1" dirty="0"/>
              <a:t> : According to ESMO guidelines, genetic </a:t>
            </a:r>
            <a:r>
              <a:rPr lang="nb-NO" altLang="en-US" sz="800" i="1" dirty="0"/>
              <a:t>testing </a:t>
            </a:r>
            <a:r>
              <a:rPr lang="en-US" sz="800" i="1" dirty="0"/>
              <a:t>is recommended for the reported XX variant.</a:t>
            </a:r>
            <a:endParaRPr lang="en-US" sz="800" i="1" dirty="0"/>
          </a:p>
        </p:txBody>
      </p:sp>
      <p:sp>
        <p:nvSpPr>
          <p:cNvPr id="51" name="Rectangle 53"/>
          <p:cNvSpPr/>
          <p:nvPr/>
        </p:nvSpPr>
        <p:spPr>
          <a:xfrm>
            <a:off x="1645564" y="48920"/>
            <a:ext cx="4968552" cy="576064"/>
          </a:xfrm>
          <a:prstGeom prst="rect">
            <a:avLst/>
          </a:prstGeom>
          <a:solidFill>
            <a:srgbClr val="0070C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" name="Gruppe 44"/>
          <p:cNvGrpSpPr/>
          <p:nvPr/>
        </p:nvGrpSpPr>
        <p:grpSpPr>
          <a:xfrm>
            <a:off x="90245" y="1166143"/>
            <a:ext cx="1538182" cy="829543"/>
            <a:chOff x="130104" y="3181320"/>
            <a:chExt cx="1539251" cy="829543"/>
          </a:xfrm>
        </p:grpSpPr>
        <p:sp>
          <p:nvSpPr>
            <p:cNvPr id="3" name="Rectangle 51"/>
            <p:cNvSpPr/>
            <p:nvPr/>
          </p:nvSpPr>
          <p:spPr>
            <a:xfrm>
              <a:off x="181748" y="3197122"/>
              <a:ext cx="1368951" cy="647280"/>
            </a:xfrm>
            <a:prstGeom prst="rect">
              <a:avLst/>
            </a:prstGeom>
            <a:solidFill>
              <a:schemeClr val="bg1"/>
            </a:solidFill>
            <a:ln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4" name="Rectangle 67"/>
            <p:cNvSpPr/>
            <p:nvPr/>
          </p:nvSpPr>
          <p:spPr>
            <a:xfrm>
              <a:off x="183687" y="3196887"/>
              <a:ext cx="395640" cy="648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635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" name="TextBox 52"/>
            <p:cNvSpPr/>
            <p:nvPr/>
          </p:nvSpPr>
          <p:spPr>
            <a:xfrm>
              <a:off x="130104" y="3232588"/>
              <a:ext cx="659880" cy="575627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050" spc="-1" dirty="0">
                  <a:solidFill>
                    <a:schemeClr val="bg1"/>
                  </a:solidFill>
                </a:rPr>
                <a:t>F1 Liquid CD</a:t>
              </a:r>
              <a:r>
                <a:rPr lang="en-US" sz="1050" b="1" spc="-1" dirty="0">
                  <a:solidFill>
                    <a:schemeClr val="bg1"/>
                  </a:solidFill>
                </a:rPr>
                <a:t>x </a:t>
              </a:r>
              <a:endParaRPr lang="en-US" sz="1050" spc="-1" dirty="0">
                <a:solidFill>
                  <a:schemeClr val="bg1"/>
                </a:solidFill>
                <a:latin typeface="Arial" panose="020B0604020202090204"/>
              </a:endParaRPr>
            </a:p>
          </p:txBody>
        </p:sp>
        <p:sp>
          <p:nvSpPr>
            <p:cNvPr id="6" name="TextBox 55"/>
            <p:cNvSpPr/>
            <p:nvPr/>
          </p:nvSpPr>
          <p:spPr>
            <a:xfrm>
              <a:off x="490604" y="3181320"/>
              <a:ext cx="1178751" cy="82954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wrap="square"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000" b="0" strike="noStrike" spc="-1" dirty="0" smtClean="0">
                  <a:solidFill>
                    <a:srgbClr val="000000"/>
                  </a:solidFill>
                  <a:latin typeface="Calibri"/>
                </a:rPr>
                <a:t> Gene Alterations</a:t>
              </a:r>
              <a:endParaRPr lang="en-US" sz="1000" b="0" strike="noStrike" spc="-1" dirty="0" smtClean="0">
                <a:solidFill>
                  <a:srgbClr val="000000"/>
                </a:solidFill>
                <a:latin typeface="Calibri"/>
              </a:endParaRPr>
            </a:p>
            <a:p>
              <a:r>
                <a:rPr lang="en-US" sz="700" spc="-1" dirty="0" smtClean="0">
                  <a:solidFill>
                    <a:srgbClr val="000000"/>
                  </a:solidFill>
                </a:rPr>
                <a:t> Any overlap TSO500:  </a:t>
              </a:r>
              <a:endParaRPr lang="en-US" sz="700" spc="-1" dirty="0" smtClean="0">
                <a:solidFill>
                  <a:srgbClr val="000000"/>
                </a:solidFill>
              </a:endParaRPr>
            </a:p>
            <a:p>
              <a:r>
                <a:rPr lang="en-US" sz="700" spc="-1" dirty="0" smtClean="0"/>
                <a:t> Add. biomarkers: </a:t>
              </a:r>
              <a:endParaRPr lang="en-US" sz="700" spc="-1" dirty="0" smtClean="0"/>
            </a:p>
            <a:p>
              <a:r>
                <a:rPr lang="en-US" sz="600" i="1" spc="-1" dirty="0" smtClean="0"/>
                <a:t>  </a:t>
              </a:r>
              <a:endParaRPr lang="en-US" sz="600" i="1" spc="-1" dirty="0"/>
            </a:p>
            <a:p>
              <a:endParaRPr lang="en-US" sz="800" spc="-1" dirty="0">
                <a:latin typeface="Arial" panose="020B0604020202090204"/>
              </a:endParaRPr>
            </a:p>
            <a:p>
              <a:pPr>
                <a:lnSpc>
                  <a:spcPct val="100000"/>
                </a:lnSpc>
              </a:pPr>
              <a:endParaRPr lang="en-US" sz="1000" b="0" strike="noStrike" spc="-1" dirty="0">
                <a:latin typeface="Arial" panose="020B0604020202090204"/>
              </a:endParaRPr>
            </a:p>
          </p:txBody>
        </p:sp>
      </p:grpSp>
      <p:grpSp>
        <p:nvGrpSpPr>
          <p:cNvPr id="39" name="Gruppe 38"/>
          <p:cNvGrpSpPr/>
          <p:nvPr/>
        </p:nvGrpSpPr>
        <p:grpSpPr>
          <a:xfrm>
            <a:off x="65057" y="2231888"/>
            <a:ext cx="1687452" cy="715457"/>
            <a:chOff x="140644" y="3135196"/>
            <a:chExt cx="1688625" cy="715457"/>
          </a:xfrm>
        </p:grpSpPr>
        <p:sp>
          <p:nvSpPr>
            <p:cNvPr id="40" name="Rectangle 51"/>
            <p:cNvSpPr/>
            <p:nvPr/>
          </p:nvSpPr>
          <p:spPr>
            <a:xfrm>
              <a:off x="183687" y="3144986"/>
              <a:ext cx="1368951" cy="647280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noFill/>
              <a:prstDash val="solid"/>
              <a:round/>
            </a:ln>
            <a:effectLst/>
          </p:spPr>
        </p:sp>
        <p:sp>
          <p:nvSpPr>
            <p:cNvPr id="41" name="Rectangle 67"/>
            <p:cNvSpPr/>
            <p:nvPr/>
          </p:nvSpPr>
          <p:spPr>
            <a:xfrm>
              <a:off x="183687" y="3135196"/>
              <a:ext cx="490212" cy="657069"/>
            </a:xfrm>
            <a:prstGeom prst="rect">
              <a:avLst/>
            </a:prstGeom>
            <a:solidFill>
              <a:srgbClr val="1F497D">
                <a:lumMod val="60000"/>
                <a:lumOff val="40000"/>
              </a:srgbClr>
            </a:solidFill>
            <a:ln w="6350" cap="flat" cmpd="sng" algn="ctr">
              <a:noFill/>
              <a:prstDash val="solid"/>
              <a:round/>
            </a:ln>
            <a:effectLst/>
          </p:spPr>
        </p:sp>
        <p:sp>
          <p:nvSpPr>
            <p:cNvPr id="42" name="TextBox 52"/>
            <p:cNvSpPr/>
            <p:nvPr/>
          </p:nvSpPr>
          <p:spPr>
            <a:xfrm>
              <a:off x="140644" y="3267332"/>
              <a:ext cx="659880" cy="367878"/>
            </a:xfrm>
            <a:prstGeom prst="rect">
              <a:avLst/>
            </a:prstGeom>
            <a:noFill/>
            <a:ln w="0">
              <a:noFill/>
            </a:ln>
            <a:effectLst/>
          </p:spPr>
          <p:txBody>
            <a:bodyPr lIns="90000" tIns="45000" rIns="90000" bIns="4500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900" b="0" i="0" u="none" strike="noStrike" kern="0" cap="none" spc="-1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TSO500 </a:t>
              </a:r>
              <a:r>
                <a:rPr kumimoji="0" lang="en-US" sz="900" b="0" i="0" u="none" strike="noStrike" kern="0" cap="none" spc="-1" normalizeH="0" baseline="0" noProof="0" dirty="0" err="1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ctDNA</a:t>
              </a:r>
              <a:endParaRPr kumimoji="0" lang="en-US" sz="900" b="0" i="0" u="none" strike="noStrike" kern="0" cap="none" spc="-1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  <p:sp>
          <p:nvSpPr>
            <p:cNvPr id="50" name="TextBox 55"/>
            <p:cNvSpPr/>
            <p:nvPr/>
          </p:nvSpPr>
          <p:spPr>
            <a:xfrm>
              <a:off x="650518" y="3267332"/>
              <a:ext cx="1178751" cy="583321"/>
            </a:xfrm>
            <a:prstGeom prst="rect">
              <a:avLst/>
            </a:prstGeom>
            <a:noFill/>
            <a:ln w="0">
              <a:noFill/>
            </a:ln>
            <a:effectLst/>
          </p:spPr>
          <p:txBody>
            <a:bodyPr wrap="square" lIns="90000" tIns="45000" rIns="90000" bIns="4500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800" b="0" i="1" u="none" strike="noStrike" kern="0" cap="none" spc="-1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Tumor DNA not represented  </a:t>
              </a:r>
              <a:endParaRPr kumimoji="0" lang="en-US" sz="800" b="0" i="1" u="none" strike="noStrike" kern="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00" b="0" i="0" u="none" strike="noStrike" kern="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00" b="0" i="0" u="none" strike="noStrike" kern="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grpSp>
        <p:nvGrpSpPr>
          <p:cNvPr id="52" name="Gruppe 51"/>
          <p:cNvGrpSpPr/>
          <p:nvPr/>
        </p:nvGrpSpPr>
        <p:grpSpPr>
          <a:xfrm>
            <a:off x="65057" y="3285814"/>
            <a:ext cx="1641127" cy="942120"/>
            <a:chOff x="140644" y="3135196"/>
            <a:chExt cx="1642268" cy="942120"/>
          </a:xfrm>
        </p:grpSpPr>
        <p:sp>
          <p:nvSpPr>
            <p:cNvPr id="53" name="Rectangle 51"/>
            <p:cNvSpPr/>
            <p:nvPr/>
          </p:nvSpPr>
          <p:spPr>
            <a:xfrm>
              <a:off x="183687" y="3144986"/>
              <a:ext cx="1368951" cy="647280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noFill/>
              <a:prstDash val="solid"/>
              <a:round/>
            </a:ln>
            <a:effectLst/>
          </p:spPr>
        </p:sp>
        <p:sp>
          <p:nvSpPr>
            <p:cNvPr id="54" name="Rectangle 67"/>
            <p:cNvSpPr/>
            <p:nvPr/>
          </p:nvSpPr>
          <p:spPr>
            <a:xfrm>
              <a:off x="183687" y="3135196"/>
              <a:ext cx="490212" cy="657069"/>
            </a:xfrm>
            <a:prstGeom prst="rect">
              <a:avLst/>
            </a:prstGeom>
            <a:solidFill>
              <a:srgbClr val="1F497D">
                <a:lumMod val="60000"/>
                <a:lumOff val="40000"/>
              </a:srgbClr>
            </a:solidFill>
            <a:ln w="6350" cap="flat" cmpd="sng" algn="ctr">
              <a:noFill/>
              <a:prstDash val="solid"/>
              <a:round/>
            </a:ln>
            <a:effectLst/>
          </p:spPr>
        </p:sp>
        <p:sp>
          <p:nvSpPr>
            <p:cNvPr id="55" name="TextBox 52"/>
            <p:cNvSpPr/>
            <p:nvPr/>
          </p:nvSpPr>
          <p:spPr>
            <a:xfrm>
              <a:off x="140644" y="3267332"/>
              <a:ext cx="659880" cy="367878"/>
            </a:xfrm>
            <a:prstGeom prst="rect">
              <a:avLst/>
            </a:prstGeom>
            <a:noFill/>
            <a:ln w="0">
              <a:noFill/>
            </a:ln>
            <a:effectLst/>
          </p:spPr>
          <p:txBody>
            <a:bodyPr lIns="90000" tIns="45000" rIns="90000" bIns="4500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900" b="0" i="0" u="none" strike="noStrike" kern="0" cap="none" spc="-1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TSO500 </a:t>
              </a:r>
              <a:r>
                <a:rPr kumimoji="0" lang="en-US" sz="900" b="0" i="0" u="none" strike="noStrike" kern="0" cap="none" spc="-1" normalizeH="0" baseline="0" noProof="0" dirty="0" err="1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ctDNA</a:t>
              </a:r>
              <a:endParaRPr kumimoji="0" lang="en-US" sz="900" b="0" i="0" u="none" strike="noStrike" kern="0" cap="none" spc="-1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  <p:sp>
          <p:nvSpPr>
            <p:cNvPr id="56" name="TextBox 55"/>
            <p:cNvSpPr/>
            <p:nvPr/>
          </p:nvSpPr>
          <p:spPr>
            <a:xfrm>
              <a:off x="604161" y="3140052"/>
              <a:ext cx="1178751" cy="937264"/>
            </a:xfrm>
            <a:prstGeom prst="rect">
              <a:avLst/>
            </a:prstGeom>
            <a:noFill/>
            <a:ln w="0">
              <a:noFill/>
            </a:ln>
            <a:effectLst/>
          </p:spPr>
          <p:txBody>
            <a:bodyPr wrap="square" lIns="90000" tIns="45000" rIns="90000" bIns="4500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000" b="0" i="0" u="none" strike="noStrike" kern="0" cap="none" spc="-1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Somatic variants</a:t>
              </a:r>
              <a:endParaRPr kumimoji="0" lang="en-US" sz="1000" b="0" i="0" u="none" strike="noStrike" kern="0" cap="none" spc="-1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700" kern="0" spc="-1" dirty="0" smtClean="0">
                  <a:solidFill>
                    <a:srgbClr val="000000"/>
                  </a:solidFill>
                  <a:latin typeface="Calibri"/>
                </a:rPr>
                <a:t>Overlap with </a:t>
              </a:r>
              <a:endParaRPr lang="en-US" sz="700" kern="0" spc="-1" dirty="0" smtClean="0">
                <a:solidFill>
                  <a:srgbClr val="000000"/>
                </a:solidFill>
                <a:latin typeface="Calibri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700" kern="0" spc="-1" dirty="0" smtClean="0">
                  <a:solidFill>
                    <a:srgbClr val="000000"/>
                  </a:solidFill>
                  <a:latin typeface="Calibri"/>
                </a:rPr>
                <a:t>TSO500 HT: YES</a:t>
              </a:r>
              <a:endParaRPr kumimoji="0" lang="en-US" sz="700" b="0" i="0" u="none" strike="noStrike" kern="0" cap="none" spc="-1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700" b="0" i="0" u="none" strike="noStrike" kern="0" cap="none" spc="-1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Add. biomarkers: NO</a:t>
              </a:r>
              <a:endParaRPr kumimoji="0" lang="en-US" sz="700" b="0" i="0" u="none" strike="noStrike" kern="0" cap="none" spc="-1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600" b="0" i="1" u="none" strike="noStrike" kern="0" cap="none" spc="-1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</a:t>
              </a:r>
              <a:endParaRPr kumimoji="0" lang="en-US" sz="600" b="0" i="1" u="none" strike="noStrike" kern="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00" b="0" i="0" u="none" strike="noStrike" kern="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00" b="0" i="0" u="none" strike="noStrike" kern="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grpSp>
        <p:nvGrpSpPr>
          <p:cNvPr id="57" name="Gruppe 56"/>
          <p:cNvGrpSpPr/>
          <p:nvPr/>
        </p:nvGrpSpPr>
        <p:grpSpPr>
          <a:xfrm>
            <a:off x="72510" y="4402228"/>
            <a:ext cx="1641127" cy="1049842"/>
            <a:chOff x="140644" y="3135196"/>
            <a:chExt cx="1642268" cy="1049842"/>
          </a:xfrm>
        </p:grpSpPr>
        <p:sp>
          <p:nvSpPr>
            <p:cNvPr id="58" name="Rectangle 51"/>
            <p:cNvSpPr/>
            <p:nvPr/>
          </p:nvSpPr>
          <p:spPr>
            <a:xfrm>
              <a:off x="183687" y="3144986"/>
              <a:ext cx="1368951" cy="647280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noFill/>
              <a:prstDash val="solid"/>
              <a:round/>
            </a:ln>
            <a:effectLst/>
          </p:spPr>
        </p:sp>
        <p:sp>
          <p:nvSpPr>
            <p:cNvPr id="61" name="Rectangle 67"/>
            <p:cNvSpPr/>
            <p:nvPr/>
          </p:nvSpPr>
          <p:spPr>
            <a:xfrm>
              <a:off x="183687" y="3135196"/>
              <a:ext cx="490212" cy="657069"/>
            </a:xfrm>
            <a:prstGeom prst="rect">
              <a:avLst/>
            </a:prstGeom>
            <a:solidFill>
              <a:srgbClr val="1F497D">
                <a:lumMod val="60000"/>
                <a:lumOff val="40000"/>
              </a:srgbClr>
            </a:solidFill>
            <a:ln w="6350" cap="flat" cmpd="sng" algn="ctr">
              <a:noFill/>
              <a:prstDash val="solid"/>
              <a:round/>
            </a:ln>
            <a:effectLst/>
          </p:spPr>
        </p:sp>
        <p:sp>
          <p:nvSpPr>
            <p:cNvPr id="64" name="TextBox 52"/>
            <p:cNvSpPr/>
            <p:nvPr/>
          </p:nvSpPr>
          <p:spPr>
            <a:xfrm>
              <a:off x="140644" y="3267332"/>
              <a:ext cx="659880" cy="367878"/>
            </a:xfrm>
            <a:prstGeom prst="rect">
              <a:avLst/>
            </a:prstGeom>
            <a:noFill/>
            <a:ln w="0">
              <a:noFill/>
            </a:ln>
            <a:effectLst/>
          </p:spPr>
          <p:txBody>
            <a:bodyPr lIns="90000" tIns="45000" rIns="90000" bIns="4500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900" b="0" i="0" u="none" strike="noStrike" kern="0" cap="none" spc="-1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TSO500 </a:t>
              </a:r>
              <a:r>
                <a:rPr kumimoji="0" lang="en-US" sz="900" b="0" i="0" u="none" strike="noStrike" kern="0" cap="none" spc="-1" normalizeH="0" baseline="0" noProof="0" dirty="0" err="1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90204"/>
                  <a:ea typeface="+mn-ea"/>
                  <a:cs typeface="+mn-cs"/>
                </a:rPr>
                <a:t>ctDNA</a:t>
              </a:r>
              <a:endParaRPr kumimoji="0" lang="en-US" sz="900" b="0" i="0" u="none" strike="noStrike" kern="0" cap="none" spc="-1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  <p:sp>
          <p:nvSpPr>
            <p:cNvPr id="66" name="TextBox 55"/>
            <p:cNvSpPr/>
            <p:nvPr/>
          </p:nvSpPr>
          <p:spPr>
            <a:xfrm>
              <a:off x="604161" y="3140052"/>
              <a:ext cx="1178751" cy="1044986"/>
            </a:xfrm>
            <a:prstGeom prst="rect">
              <a:avLst/>
            </a:prstGeom>
            <a:noFill/>
            <a:ln w="0">
              <a:noFill/>
            </a:ln>
            <a:effectLst/>
          </p:spPr>
          <p:txBody>
            <a:bodyPr wrap="square" lIns="90000" tIns="45000" rIns="90000" bIns="4500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000" b="0" i="0" u="none" strike="noStrike" kern="0" cap="none" spc="-1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Somatic variants</a:t>
              </a:r>
              <a:endParaRPr kumimoji="0" lang="en-US" sz="1000" b="0" i="0" u="none" strike="noStrike" kern="0" cap="none" spc="-1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700" kern="0" spc="-1" dirty="0" smtClean="0">
                  <a:solidFill>
                    <a:srgbClr val="000000"/>
                  </a:solidFill>
                  <a:latin typeface="Calibri"/>
                </a:rPr>
                <a:t>Overlap with </a:t>
              </a:r>
              <a:endParaRPr lang="en-US" sz="700" kern="0" spc="-1" dirty="0" smtClean="0">
                <a:solidFill>
                  <a:srgbClr val="000000"/>
                </a:solidFill>
                <a:latin typeface="Calibri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700" kern="0" spc="-1" dirty="0" smtClean="0">
                  <a:solidFill>
                    <a:srgbClr val="000000"/>
                  </a:solidFill>
                  <a:latin typeface="Calibri"/>
                </a:rPr>
                <a:t>TSO500 HT: YES</a:t>
              </a:r>
              <a:endParaRPr kumimoji="0" lang="en-US" sz="700" b="0" i="0" u="none" strike="noStrike" kern="0" cap="none" spc="-1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700" b="0" i="0" u="none" strike="noStrike" kern="0" cap="none" spc="-1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Add. biomarkers: </a:t>
              </a:r>
              <a:r>
                <a:rPr lang="en-US" sz="700" kern="0" spc="-1" dirty="0" smtClean="0">
                  <a:solidFill>
                    <a:prstClr val="black"/>
                  </a:solidFill>
                  <a:latin typeface="Calibri"/>
                </a:rPr>
                <a:t>YES</a:t>
              </a:r>
              <a:endParaRPr lang="en-US" sz="700" kern="0" spc="-1" dirty="0" smtClean="0">
                <a:solidFill>
                  <a:prstClr val="black"/>
                </a:solidFill>
                <a:latin typeface="Calibri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700" kern="0" spc="-1" dirty="0" smtClean="0">
                  <a:solidFill>
                    <a:prstClr val="black"/>
                  </a:solidFill>
                  <a:latin typeface="Calibri"/>
                </a:rPr>
                <a:t>(See comments)</a:t>
              </a:r>
              <a:endParaRPr kumimoji="0" lang="en-US" sz="700" b="0" i="0" u="none" strike="noStrike" kern="0" cap="none" spc="-1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600" b="0" i="1" u="none" strike="noStrike" kern="0" cap="none" spc="-1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</a:t>
              </a:r>
              <a:endParaRPr kumimoji="0" lang="en-US" sz="600" b="0" i="1" u="none" strike="noStrike" kern="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00" b="0" i="0" u="none" strike="noStrike" kern="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00" b="0" i="0" u="none" strike="noStrike" kern="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/>
                <a:ea typeface="+mn-ea"/>
                <a:cs typeface="+mn-cs"/>
              </a:endParaRPr>
            </a:p>
          </p:txBody>
        </p:sp>
      </p:grpSp>
      <p:sp>
        <p:nvSpPr>
          <p:cNvPr id="45" name="TekstSylinder 44"/>
          <p:cNvSpPr txBox="1"/>
          <p:nvPr/>
        </p:nvSpPr>
        <p:spPr>
          <a:xfrm>
            <a:off x="6878980" y="3081351"/>
            <a:ext cx="23731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# Variant of unknown significance (VUS)</a:t>
            </a:r>
            <a:endParaRPr lang="en-US" sz="800" dirty="0"/>
          </a:p>
          <a:p>
            <a:r>
              <a:rPr lang="en-US" sz="800" dirty="0">
                <a:solidFill>
                  <a:schemeClr val="tx1"/>
                </a:solidFill>
              </a:rPr>
              <a:t>&amp; Variants previously reported (in Myeloid panels)</a:t>
            </a:r>
            <a:endParaRPr lang="en-US" sz="800" dirty="0">
              <a:solidFill>
                <a:schemeClr val="tx1"/>
              </a:solidFill>
            </a:endParaRPr>
          </a:p>
        </p:txBody>
      </p:sp>
      <p:graphicFrame>
        <p:nvGraphicFramePr>
          <p:cNvPr id="46" name="Table 124"/>
          <p:cNvGraphicFramePr>
            <a:graphicFrameLocks noGrp="1"/>
          </p:cNvGraphicFramePr>
          <p:nvPr/>
        </p:nvGraphicFramePr>
        <p:xfrm>
          <a:off x="1728232" y="3997902"/>
          <a:ext cx="4932000" cy="1094128"/>
        </p:xfrm>
        <a:graphic>
          <a:graphicData uri="http://schemas.openxmlformats.org/drawingml/2006/table">
            <a:tbl>
              <a:tblPr/>
              <a:tblGrid>
                <a:gridCol w="576000"/>
                <a:gridCol w="504000"/>
                <a:gridCol w="432000"/>
                <a:gridCol w="360000"/>
                <a:gridCol w="540000"/>
                <a:gridCol w="2520000"/>
              </a:tblGrid>
              <a:tr h="2160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Gene</a:t>
                      </a: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Variant</a:t>
                      </a: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VAF</a:t>
                      </a:r>
                      <a:r>
                        <a:rPr lang="en-US" sz="7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/</a:t>
                      </a:r>
                      <a:endParaRPr lang="en-US" sz="700" b="1" dirty="0" smtClean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CN </a:t>
                      </a: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 err="1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GoF</a:t>
                      </a:r>
                      <a:r>
                        <a:rPr lang="en-US" sz="7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/</a:t>
                      </a:r>
                      <a:endParaRPr lang="en-US" sz="700" b="1" dirty="0" smtClean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LoF</a:t>
                      </a: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Pathway</a:t>
                      </a:r>
                      <a:r>
                        <a:rPr lang="en-US" sz="7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/</a:t>
                      </a:r>
                      <a:endParaRPr lang="en-US" sz="700" b="1" dirty="0" smtClean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function</a:t>
                      </a:r>
                      <a:endParaRPr lang="en-US" sz="7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F0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 panose="02020503050405090304"/>
                        </a:rPr>
                        <a:t>Comments</a:t>
                      </a: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0FA"/>
                    </a:solidFill>
                  </a:tcPr>
                </a:tc>
              </a:tr>
              <a:tr h="2195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800" b="1" dirty="0" smtClean="0">
                        <a:solidFill>
                          <a:schemeClr val="tx1"/>
                        </a:solidFill>
                        <a:latin typeface="+mn-lt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800" dirty="0" smtClean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800" baseline="0" dirty="0" smtClean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nb-NO" sz="80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95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800" b="1" dirty="0" smtClean="0">
                        <a:solidFill>
                          <a:schemeClr val="tx1"/>
                        </a:solidFill>
                        <a:latin typeface="+mn-lt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800" dirty="0" smtClean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nb-NO" sz="800" i="1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95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800" b="1" dirty="0" smtClean="0">
                        <a:solidFill>
                          <a:schemeClr val="tx1"/>
                        </a:solidFill>
                        <a:latin typeface="+mn-lt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800" dirty="0" smtClean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nb-NO" sz="800" i="1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95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800" b="1" dirty="0" smtClean="0">
                        <a:solidFill>
                          <a:schemeClr val="tx1"/>
                        </a:solidFill>
                        <a:latin typeface="+mn-lt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800" dirty="0" smtClean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 panose="02020503050405090304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nb-NO" sz="800" i="1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600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7" name="Rectangle 63"/>
          <p:cNvSpPr/>
          <p:nvPr/>
        </p:nvSpPr>
        <p:spPr>
          <a:xfrm>
            <a:off x="1677954" y="3741357"/>
            <a:ext cx="4397439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/>
              <a:t>Variants of </a:t>
            </a:r>
            <a:r>
              <a:rPr lang="en-US" sz="1100" b="1" dirty="0" smtClean="0"/>
              <a:t>potential relevance</a:t>
            </a:r>
            <a:endParaRPr lang="en-US" sz="11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37160" y="502920"/>
          <a:ext cx="8906255" cy="2569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"/>
                <a:gridCol w="877824"/>
                <a:gridCol w="877824"/>
                <a:gridCol w="466344"/>
                <a:gridCol w="667512"/>
                <a:gridCol w="1024128"/>
                <a:gridCol w="2066543"/>
                <a:gridCol w="722376"/>
                <a:gridCol w="740664"/>
                <a:gridCol w="484632"/>
                <a:gridCol w="484632"/>
              </a:tblGrid>
              <a:tr h="171297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Gene_symbol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Genomic_coordinates_in_hg19_build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Ensembl_transcript_ID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Exon_number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Protein_change_short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HGVS_syntax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Change_summary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Coding_status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Read_depth(variant reads/total reads)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AF_tumor_DNA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Filter_rescued</a:t>
                      </a:r>
                    </a:p>
                  </a:txBody>
                  <a:tcPr/>
                </a:tc>
              </a:tr>
              <a:tr h="171297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TP53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chr17:g.7577547C&gt;T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ENST00000269305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exon7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G245D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NM_000546:c.734G&gt;A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TP53 NM_000546:c.734G&gt;A,p.(G245D),p.(Gly245Asp)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149/756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171297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chr13:g.48953730C&gt;T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ENST00000267163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exon14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R445X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NM_000321:c.1333C&gt;T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RB1 NM_000321:c.1333C&gt;T,p.(R445X),p.(Arg445Ter)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stop_gained,splice_region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66/370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171297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chr10:g.89720798GTACT&gt;G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ENST00000371953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exon8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T319X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NM_000314:c.955_958del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PTEN NM_000314:c.955_958del,p.(T319X),p.(Thr319Ter)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frameshift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29/490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171297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MSH2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chr2:g.47702189CAAT&gt;C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ENST00000233146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exon12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N596del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NM_000251:c.1786_1788del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MSH2 NM_000251:c.1786_1788del,p.(N596del),p.(Asn596del)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inframe_deletion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377/670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171297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LZTR1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chr22:g.21348266G&gt;A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ENST00000215739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exon13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W469X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NA:c.1407G&gt;A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LZTR1 NA:c.1407G&gt;A,p.(W469X),p.(Trp469Ter)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stop_gained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281/463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171297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HNF1A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chr12:g.121432116G&gt;GC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ENST00000257555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exon4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P289fs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NM_000545:c.863_864insC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HNF1A NM_000545:c.863_864insC,p.(P289fs),p.(Pro289AlafsTer28)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frameshift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30/594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171297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chr19:g.42791371CAG&gt;C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ENST00000575354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exon3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S146X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NM_015125|NM_001379484|NM_001379485:c.436_437del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CIC NM_015125|NM_001379484|NM_001379485:c.436_437del,p.(S146X),p.(Ser146Ter)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frameshift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101/723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171297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ARID1B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chr6:g.157527808C&gt;T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ENST00000346085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exon20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R1845C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NA:c.5533C&gt;T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ARID1B NA:c.5533C&gt;T,p.(R1845C),p.(Arg1845Cys)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26/1183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171297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chr11:g.108188244G&gt;A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ENST00000278616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exon43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V2115I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NA:c.6343G&gt;A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ATM NA:c.6343G&gt;A,p.(V2115I),p.(Val2115Ile)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70/425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171297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AXIN1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chr16:g.348185C&gt;T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ENST00000262320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exon6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A441T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NM_003502:c.1321G&gt;A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AXIN1 NM_003502:c.1321G&gt;A,p.(A441T),p.(Ala441Thr)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59/543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171297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BCORL1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chrX:g.129159172G&gt;A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ENST00000540052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exon6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R1299Q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NM_001184772|NM_001379450|NM_001379451:c.3896G&gt;A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BCORL1 NM_001184772|NM_001379450|NM_001379451:c.3896G&gt;A,p.(R1299Q),p.(Arg1299Gln)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16/766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171297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FAT1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chr4:g.187509817T&gt;G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ENST00000441802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exon27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S4566R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NM_005245:c.13696A&gt;C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FAT1 NM_005245:c.13696A&gt;C,p.(S4566R),p.(Ser4566Arg)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228/1387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171297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FAT1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chr4:g.187549389C&gt;T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ENST00000441802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exon9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V1577I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NM_005245:c.4729G&gt;A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FAT1 NM_005245:c.4729G&gt;A,p.(V1577I),p.(Val1577Ile)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55/1159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17130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GNAS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chr20:g.57429560G&gt;A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ENST00000371100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exon1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G414R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NM_080425:c.1240G&gt;A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GNAS NM_080425:c.1240G&gt;A,p.(G414R),p.(Gly414Arg)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39/754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28600" y="246888"/>
            <a:ext cx="82113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/>
            </a:pPr>
            <a:r>
              <a:t>Sequence data summary for IPD2225-D01-P01-A08: Variants that alter protein code and splice sites.  TSOPPI Version string: Version string: 2.2.0.12/0.3.2:22-06-07/1.0.0/1.0.0/hg19/TR  (N=28, Page 1/2)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37160" y="502920"/>
          <a:ext cx="8906255" cy="2569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"/>
                <a:gridCol w="877824"/>
                <a:gridCol w="877824"/>
                <a:gridCol w="466344"/>
                <a:gridCol w="667512"/>
                <a:gridCol w="1024128"/>
                <a:gridCol w="2066543"/>
                <a:gridCol w="722376"/>
                <a:gridCol w="740664"/>
                <a:gridCol w="484632"/>
                <a:gridCol w="484632"/>
              </a:tblGrid>
              <a:tr h="171297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Gene_symbol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Genomic_coordinates_in_hg19_build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Ensembl_transcript_ID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Exon_number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Protein_change_short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HGVS_syntax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Change_summary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Coding_status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Read_depth(variant reads/total reads)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AF_tumor_DNA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Filter_rescued</a:t>
                      </a:r>
                    </a:p>
                  </a:txBody>
                  <a:tcPr/>
                </a:tc>
              </a:tr>
              <a:tr h="171297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PRDM1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chr6:g.106553170G&gt;A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ENST00000369096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exon5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A379T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NM_001198:c.1135G&gt;A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PRDM1 NM_001198:c.1135G&gt;A,p.(A379T),p.(Ala379Thr)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206/1185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171297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chr10:g.89653808G&gt;A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ENST00000371953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exon2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G36R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NM_000314:c.106G&gt;A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PTEN NM_000314:c.106G&gt;A,p.(G36R),p.(Gly36Arg)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23/461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171297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LATS2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chr13:g.21549298A&gt;G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ENST00000382592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exon8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I993T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NM_014572:c.2978T&gt;C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LATS2 NM_014572:c.2978T&gt;C,p.(I993T),p.(Ile993Thr)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697/1159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171297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NOTCH1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chr9:g.139399156G&gt;A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ENST00000277541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exon26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R1663W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NA:c.4987C&gt;T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NOTCH1 NA:c.4987C&gt;T,p.(R1663W),p.(Arg1663Trp)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54/151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171297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NOTCH3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chr19:g.15299983C&gt;T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ENST00000263388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exon8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A399T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NM_000435:c.1195G&gt;A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NOTCH3 NM_000435:c.1195G&gt;A,p.(A399T),p.(Ala399Thr)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missense,splice_region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153/733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171297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DNMT3A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chr2:g.25469976G&gt;A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ENST00000264709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exon9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Q356X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NM_175629:c.1066C&gt;T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DNMT3A NM_175629:c.1066C&gt;T,p.(Q356X),p.(Gln356Ter)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stop_gained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32/752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171297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SETD2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chr3:g.47165918G&gt;A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ENST00000409792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exon3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R70X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NM_014159:c.208C&gt;T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SETD2 NM_014159:c.208C&gt;T,p.(R70X),p.(Arg70Ter)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stop_gained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172/849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171297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MEF2B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chr19:g.19257143TG&gt;T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ENST00000162023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exon12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T274fs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NA:c.819del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MEF2B NA:c.819del,p.(T274fs),p.(Thr274ProfsTer?)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frameshift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79/399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171297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CD276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chr15:g.73994848G&gt;A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ENST00000318443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exon3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R111H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NM_001024736:c.332G&gt;A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CD276 NM_001024736:c.332G&gt;A,p.(R111H),p.(Arg111His)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169/761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171297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ERCC1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chr19:g.45923631C&gt;T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ENST00000013807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exon3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V126I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NM_001369408|NM_001369410|NM_001369409|NM_001369411|NM_202001:c.376G&gt;A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ERCC1 NM_001369408|NM_001369410|NM_001369409|NM_001369411|NM_202001:c.376G&gt;A,p.(V126I),p.(Val126Ile)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109/657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171297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FGF8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chr10:g.103531266G&gt;A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ENST00000320185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exon5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T133M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NM_033163:c.398C&gt;T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FGF8 NM_033163:c.398C&gt;T,p.(T133M),p.(Thr133Met)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33/719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171297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NUP93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chr16:g.56871587C&gt;T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ENST00000308159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exon18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P656L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NM_014669:c.1967C&gt;T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NUP93 NM_014669:c.1967C&gt;T,p.(P656L),p.(Pro656Leu)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189/997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171297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PRKDC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chr8:g.48775011C&gt;T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ENST00000314191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exon44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A1947T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NM_006904:c.5839G&gt;A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PRKDC NM_006904:c.5839G&gt;A,p.(A1947T),p.(Ala1947Thr)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136/687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17130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GEN1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chr2:g.17946275A&gt;G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ENST00000381254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exon4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N154D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NM_001130009:c.460A&gt;G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GEN1 NM_001130009:c.460A&gt;G,p.(N154D),p.(Asn154Asp)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missense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281/706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28600" y="246888"/>
            <a:ext cx="82113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/>
            </a:pPr>
            <a:r>
              <a:t>Sequence data summary for IPD2225-D01-P01-A08: Variants that alter protein code and splice sites.  TSOPPI Version string: Version string: 2.2.0.12/0.3.2:22-06-07/1.0.0/1.0.0/hg19/TR  (N=28, Page 2/2)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age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5875"/>
            <a:ext cx="9144000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page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2571750"/>
          </a:xfrm>
          <a:prstGeom prst="rect">
            <a:avLst/>
          </a:prstGeom>
        </p:spPr>
      </p:pic>
      <p:pic>
        <p:nvPicPr>
          <p:cNvPr id="3" name="Picture 2" descr="temp_page_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71750"/>
            <a:ext cx="9144000" cy="257175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7595d694-63b2-45bc-b32c-f75ad713031d}"/>
</p:tagLst>
</file>

<file path=ppt/tags/tag2.xml><?xml version="1.0" encoding="utf-8"?>
<p:tagLst xmlns:p="http://schemas.openxmlformats.org/presentationml/2006/main">
  <p:tag name="KSO_WM_UNIT_TABLE_BEAUTIFY" val="smartTable{9898d346-fadb-4fdf-b6fd-32c4869c2389}"/>
</p:tagLst>
</file>

<file path=ppt/tags/tag3.xml><?xml version="1.0" encoding="utf-8"?>
<p:tagLst xmlns:p="http://schemas.openxmlformats.org/presentationml/2006/main">
  <p:tag name="KSO_WM_UNIT_TABLE_BEAUTIFY" val="smartTable{7595d694-63b2-45bc-b32c-f75ad713031d}"/>
</p:tagLst>
</file>

<file path=ppt/tags/tag4.xml><?xml version="1.0" encoding="utf-8"?>
<p:tagLst xmlns:p="http://schemas.openxmlformats.org/presentationml/2006/main">
  <p:tag name="KSO_WM_UNIT_TABLE_BEAUTIFY" val="smartTable{9898d346-fadb-4fdf-b6fd-32c4869c2389}"/>
</p:tagLst>
</file>

<file path=ppt/tags/tag5.xml><?xml version="1.0" encoding="utf-8"?>
<p:tagLst xmlns:p="http://schemas.openxmlformats.org/presentationml/2006/main">
  <p:tag name="KSO_WM_UNIT_TABLE_BEAUTIFY" val="smartTable{7595d694-63b2-45bc-b32c-f75ad713031d}"/>
</p:tagLst>
</file>

<file path=ppt/tags/tag6.xml><?xml version="1.0" encoding="utf-8"?>
<p:tagLst xmlns:p="http://schemas.openxmlformats.org/presentationml/2006/main">
  <p:tag name="KSO_WM_UNIT_TABLE_BEAUTIFY" val="smartTable{9898d346-fadb-4fdf-b6fd-32c4869c2389}"/>
</p:tagLst>
</file>

<file path=ppt/tags/tag7.xml><?xml version="1.0" encoding="utf-8"?>
<p:tagLst xmlns:p="http://schemas.openxmlformats.org/presentationml/2006/main">
  <p:tag name="KSO_WM_UNIT_TABLE_BEAUTIFY" val="smartTable{a8cadbdc-018b-4b22-80bd-a2e7577c17d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5983</Words>
  <Application>WPS Presentation</Application>
  <PresentationFormat>Skjermfremvisning (16:9)</PresentationFormat>
  <Paragraphs>606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3" baseType="lpstr">
      <vt:lpstr>Arial</vt:lpstr>
      <vt:lpstr>SimSun</vt:lpstr>
      <vt:lpstr>Wingdings</vt:lpstr>
      <vt:lpstr>Times New Roman</vt:lpstr>
      <vt:lpstr>Calibri</vt:lpstr>
      <vt:lpstr>Helvetica Neue</vt:lpstr>
      <vt:lpstr>Arial</vt:lpstr>
      <vt:lpstr>Calibri Light</vt:lpstr>
      <vt:lpstr>Calibri</vt:lpstr>
      <vt:lpstr>Times New Roman</vt:lpstr>
      <vt:lpstr>Microsoft YaHei</vt:lpstr>
      <vt:lpstr>汉仪旗黑</vt:lpstr>
      <vt:lpstr>Arial Unicode MS</vt:lpstr>
      <vt:lpstr>汉仪书宋二KW</vt:lpstr>
      <vt:lpstr>Office Theme</vt:lpstr>
      <vt:lpstr>The following slide will be distributed for preparation before  the pre-Mol-MDT meeting</vt:lpstr>
      <vt:lpstr>PowerPoint 演示文稿</vt:lpstr>
      <vt:lpstr>The following slides are for  the molecular tumor board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Vigdis Nygaard</dc:creator>
  <cp:lastModifiedBy>xiaolizhang</cp:lastModifiedBy>
  <cp:revision>443</cp:revision>
  <dcterms:created xsi:type="dcterms:W3CDTF">2026-02-27T13:46:10Z</dcterms:created>
  <dcterms:modified xsi:type="dcterms:W3CDTF">2026-02-27T13:46:10Z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1033-12.1.23155.23155</vt:lpwstr>
  </property>
  <property fmtid="{D5CDD505-2E9C-101B-9397-08002B2CF9AE}" pid="3" name="ICV">
    <vt:lpwstr>8145C7D6AEFA8F0BEB657667E4E052B7_42</vt:lpwstr>
  </property>
</Properties>
</file>